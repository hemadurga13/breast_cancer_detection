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8" r:id="rId6"/>
    <p:sldId id="269" r:id="rId7"/>
    <p:sldId id="270" r:id="rId8"/>
    <p:sldId id="271"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Calibri (MS)" panose="020B0604020202020204" charset="0"/>
      <p:regular r:id="rId18"/>
    </p:embeddedFont>
    <p:embeddedFont>
      <p:font typeface="Bricolage Grotesque 28 Bold" panose="020B0604020202020204" charset="0"/>
      <p:regular r:id="rId19"/>
    </p:embeddedFont>
    <p:embeddedFont>
      <p:font typeface="Calibri (MS) Bold" panose="020B0604020202020204" charset="0"/>
      <p:regular r:id="rId20"/>
    </p:embeddedFont>
    <p:embeddedFont>
      <p:font typeface="Arimo" panose="020B0604020202020204" charset="0"/>
      <p:regular r:id="rId21"/>
    </p:embeddedFont>
    <p:embeddedFont>
      <p:font typeface="Arial Bold" panose="020B0704020202020204" pitchFamily="34" charset="0"/>
      <p:bold r:id="rId22"/>
    </p:embeddedFont>
    <p:embeddedFont>
      <p:font typeface="Calibri" panose="020F0502020204030204" pitchFamily="34" charset="0"/>
      <p:regular r:id="rId23"/>
      <p:bold r:id="rId24"/>
      <p:italic r:id="rId25"/>
      <p:bold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4" d="100"/>
          <a:sy n="64" d="100"/>
        </p:scale>
        <p:origin x="178"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872100" y="3962520"/>
            <a:ext cx="16523460" cy="2590920"/>
            <a:chOff x="0" y="0"/>
            <a:chExt cx="22031280" cy="3454560"/>
          </a:xfrm>
        </p:grpSpPr>
        <p:sp>
          <p:nvSpPr>
            <p:cNvPr id="4" name="Freeform 4"/>
            <p:cNvSpPr/>
            <p:nvPr/>
          </p:nvSpPr>
          <p:spPr>
            <a:xfrm>
              <a:off x="0" y="0"/>
              <a:ext cx="22031280" cy="3454560"/>
            </a:xfrm>
            <a:custGeom>
              <a:avLst/>
              <a:gdLst/>
              <a:ahLst/>
              <a:cxnLst/>
              <a:rect l="l" t="t" r="r" b="b"/>
              <a:pathLst>
                <a:path w="22031280" h="3454560">
                  <a:moveTo>
                    <a:pt x="0" y="0"/>
                  </a:moveTo>
                  <a:lnTo>
                    <a:pt x="22031280" y="0"/>
                  </a:lnTo>
                  <a:lnTo>
                    <a:pt x="22031280" y="3454560"/>
                  </a:lnTo>
                  <a:lnTo>
                    <a:pt x="0" y="3454560"/>
                  </a:lnTo>
                  <a:close/>
                </a:path>
              </a:pathLst>
            </a:custGeom>
            <a:solidFill>
              <a:srgbClr val="000000">
                <a:alpha val="0"/>
              </a:srgbClr>
            </a:solidFill>
          </p:spPr>
        </p:sp>
        <p:sp>
          <p:nvSpPr>
            <p:cNvPr id="5" name="TextBox 5"/>
            <p:cNvSpPr txBox="1"/>
            <p:nvPr/>
          </p:nvSpPr>
          <p:spPr>
            <a:xfrm>
              <a:off x="0" y="-123825"/>
              <a:ext cx="22031280" cy="3578385"/>
            </a:xfrm>
            <a:prstGeom prst="rect">
              <a:avLst/>
            </a:prstGeom>
          </p:spPr>
          <p:txBody>
            <a:bodyPr lIns="0" tIns="0" rIns="0" bIns="0" rtlCol="0" anchor="ctr"/>
            <a:lstStyle/>
            <a:p>
              <a:pPr algn="ctr">
                <a:lnSpc>
                  <a:spcPts val="7200"/>
                </a:lnSpc>
              </a:pPr>
              <a:r>
                <a:rPr lang="en-US" sz="6000" b="1" spc="-1">
                  <a:solidFill>
                    <a:srgbClr val="000000"/>
                  </a:solidFill>
                  <a:latin typeface="Calibri (MS) Bold"/>
                  <a:ea typeface="Calibri (MS) Bold"/>
                  <a:cs typeface="Calibri (MS) Bold"/>
                  <a:sym typeface="Calibri (MS) Bold"/>
                </a:rPr>
                <a:t>Breast Cancer Prediction and Detection Using CNN</a:t>
              </a:r>
            </a:p>
            <a:p>
              <a:pPr algn="ctr">
                <a:lnSpc>
                  <a:spcPts val="4320"/>
                </a:lnSpc>
              </a:pPr>
              <a:r>
                <a:rPr lang="en-US" sz="3600" spc="-1">
                  <a:solidFill>
                    <a:srgbClr val="000000"/>
                  </a:solidFill>
                  <a:latin typeface="Calibri (MS)"/>
                  <a:ea typeface="Calibri (MS)"/>
                  <a:cs typeface="Calibri (MS)"/>
                  <a:sym typeface="Calibri (MS)"/>
                </a:rPr>
                <a:t>A Deep Learning-Based Approach</a:t>
              </a:r>
            </a:p>
          </p:txBody>
        </p:sp>
      </p:grpSp>
      <p:sp>
        <p:nvSpPr>
          <p:cNvPr id="8" name="TextBox 8"/>
          <p:cNvSpPr txBox="1"/>
          <p:nvPr/>
        </p:nvSpPr>
        <p:spPr>
          <a:xfrm>
            <a:off x="6172200" y="6286500"/>
            <a:ext cx="9970560" cy="4614840"/>
          </a:xfrm>
          <a:prstGeom prst="rect">
            <a:avLst/>
          </a:prstGeom>
        </p:spPr>
        <p:txBody>
          <a:bodyPr lIns="0" tIns="0" rIns="0" bIns="0" rtlCol="0" anchor="t"/>
          <a:lstStyle/>
          <a:p>
            <a:pPr>
              <a:lnSpc>
                <a:spcPts val="5040"/>
              </a:lnSpc>
            </a:pPr>
            <a:r>
              <a:rPr lang="en-US" sz="4200" b="1" spc="-1" dirty="0">
                <a:solidFill>
                  <a:srgbClr val="C0504D"/>
                </a:solidFill>
                <a:latin typeface="Bricolage Grotesque 28 Bold"/>
                <a:ea typeface="Bricolage Grotesque 28 Bold"/>
                <a:cs typeface="Bricolage Grotesque 28 Bold"/>
                <a:sym typeface="Bricolage Grotesque 28 Bold"/>
              </a:rPr>
              <a:t>Prepared By : Team 5</a:t>
            </a:r>
          </a:p>
          <a:p>
            <a:pPr>
              <a:lnSpc>
                <a:spcPts val="3600"/>
              </a:lnSpc>
            </a:pPr>
            <a:r>
              <a:rPr lang="en-US" sz="3000" spc="-1" dirty="0">
                <a:solidFill>
                  <a:srgbClr val="000000"/>
                </a:solidFill>
                <a:latin typeface="Arimo"/>
                <a:ea typeface="Arimo"/>
                <a:cs typeface="Arimo"/>
                <a:sym typeface="Arimo"/>
              </a:rPr>
              <a:t>21BD1A6708 – </a:t>
            </a:r>
            <a:r>
              <a:rPr lang="en-US" sz="3000" spc="-1" dirty="0" err="1">
                <a:solidFill>
                  <a:srgbClr val="000000"/>
                </a:solidFill>
                <a:latin typeface="Arimo"/>
                <a:ea typeface="Arimo"/>
                <a:cs typeface="Arimo"/>
                <a:sym typeface="Arimo"/>
              </a:rPr>
              <a:t>B.Hema</a:t>
            </a:r>
            <a:r>
              <a:rPr lang="en-US" sz="3000" spc="-1" dirty="0">
                <a:solidFill>
                  <a:srgbClr val="000000"/>
                </a:solidFill>
                <a:latin typeface="Arimo"/>
                <a:ea typeface="Arimo"/>
                <a:cs typeface="Arimo"/>
                <a:sym typeface="Arimo"/>
              </a:rPr>
              <a:t> </a:t>
            </a:r>
            <a:r>
              <a:rPr lang="en-US" sz="3000" spc="-1" dirty="0" err="1">
                <a:solidFill>
                  <a:srgbClr val="000000"/>
                </a:solidFill>
                <a:latin typeface="Arimo"/>
                <a:ea typeface="Arimo"/>
                <a:cs typeface="Arimo"/>
                <a:sym typeface="Arimo"/>
              </a:rPr>
              <a:t>Durga</a:t>
            </a:r>
            <a:endParaRPr lang="en-US" sz="3000" spc="-1" dirty="0">
              <a:solidFill>
                <a:srgbClr val="000000"/>
              </a:solidFill>
              <a:latin typeface="Arimo"/>
              <a:ea typeface="Arimo"/>
              <a:cs typeface="Arimo"/>
              <a:sym typeface="Arimo"/>
            </a:endParaRPr>
          </a:p>
          <a:p>
            <a:pPr>
              <a:lnSpc>
                <a:spcPts val="3600"/>
              </a:lnSpc>
            </a:pPr>
            <a:r>
              <a:rPr lang="en-US" sz="3000" spc="-1" dirty="0">
                <a:solidFill>
                  <a:srgbClr val="000000"/>
                </a:solidFill>
                <a:latin typeface="Arimo"/>
                <a:ea typeface="Arimo"/>
                <a:cs typeface="Arimo"/>
                <a:sym typeface="Arimo"/>
              </a:rPr>
              <a:t>21BD1A6711 – </a:t>
            </a:r>
            <a:r>
              <a:rPr lang="en-US" sz="3000" spc="-1" dirty="0" err="1">
                <a:solidFill>
                  <a:srgbClr val="000000"/>
                </a:solidFill>
                <a:latin typeface="Arimo"/>
                <a:ea typeface="Arimo"/>
                <a:cs typeface="Arimo"/>
                <a:sym typeface="Arimo"/>
              </a:rPr>
              <a:t>B.Harshini</a:t>
            </a:r>
            <a:endParaRPr lang="en-US" sz="3000" spc="-1" dirty="0">
              <a:solidFill>
                <a:srgbClr val="000000"/>
              </a:solidFill>
              <a:latin typeface="Arimo"/>
              <a:ea typeface="Arimo"/>
              <a:cs typeface="Arimo"/>
              <a:sym typeface="Arimo"/>
            </a:endParaRPr>
          </a:p>
          <a:p>
            <a:pPr>
              <a:lnSpc>
                <a:spcPts val="3600"/>
              </a:lnSpc>
            </a:pPr>
            <a:r>
              <a:rPr lang="en-US" sz="3000" spc="-1" dirty="0">
                <a:solidFill>
                  <a:srgbClr val="000000"/>
                </a:solidFill>
                <a:latin typeface="Arimo"/>
                <a:ea typeface="Arimo"/>
                <a:cs typeface="Arimo"/>
                <a:sym typeface="Arimo"/>
              </a:rPr>
              <a:t>21BD1A6749 – </a:t>
            </a:r>
            <a:r>
              <a:rPr lang="en-US" sz="3000" spc="-1" dirty="0" err="1">
                <a:solidFill>
                  <a:srgbClr val="000000"/>
                </a:solidFill>
                <a:latin typeface="Arimo"/>
                <a:ea typeface="Arimo"/>
                <a:cs typeface="Arimo"/>
                <a:sym typeface="Arimo"/>
              </a:rPr>
              <a:t>P.Paul</a:t>
            </a:r>
            <a:endParaRPr lang="en-US" sz="3000" spc="-1" dirty="0">
              <a:solidFill>
                <a:srgbClr val="000000"/>
              </a:solidFill>
              <a:latin typeface="Arimo"/>
              <a:ea typeface="Arimo"/>
              <a:cs typeface="Arimo"/>
              <a:sym typeface="Arimo"/>
            </a:endParaRPr>
          </a:p>
          <a:p>
            <a:pPr>
              <a:lnSpc>
                <a:spcPts val="3600"/>
              </a:lnSpc>
            </a:pPr>
            <a:r>
              <a:rPr lang="en-US" sz="3000" spc="-1" dirty="0">
                <a:solidFill>
                  <a:srgbClr val="000000"/>
                </a:solidFill>
                <a:latin typeface="Arimo"/>
                <a:ea typeface="Arimo"/>
                <a:cs typeface="Arimo"/>
                <a:sym typeface="Arimo"/>
              </a:rPr>
              <a:t>21BD1A6753 – </a:t>
            </a:r>
            <a:r>
              <a:rPr lang="en-US" sz="3000" spc="-1" dirty="0" err="1">
                <a:solidFill>
                  <a:srgbClr val="000000"/>
                </a:solidFill>
                <a:latin typeface="Arimo"/>
                <a:ea typeface="Arimo"/>
                <a:cs typeface="Arimo"/>
                <a:sym typeface="Arimo"/>
              </a:rPr>
              <a:t>C.Sai</a:t>
            </a:r>
            <a:r>
              <a:rPr lang="en-US" sz="3000" spc="-1" dirty="0">
                <a:solidFill>
                  <a:srgbClr val="000000"/>
                </a:solidFill>
                <a:latin typeface="Arimo"/>
                <a:ea typeface="Arimo"/>
                <a:cs typeface="Arimo"/>
                <a:sym typeface="Arimo"/>
              </a:rPr>
              <a:t> </a:t>
            </a:r>
            <a:r>
              <a:rPr lang="en-US" sz="3000" spc="-1" dirty="0" err="1">
                <a:solidFill>
                  <a:srgbClr val="000000"/>
                </a:solidFill>
                <a:latin typeface="Arimo"/>
                <a:ea typeface="Arimo"/>
                <a:cs typeface="Arimo"/>
                <a:sym typeface="Arimo"/>
              </a:rPr>
              <a:t>Kanishka</a:t>
            </a:r>
            <a:endParaRPr lang="en-US" sz="3000" spc="-1" dirty="0">
              <a:solidFill>
                <a:srgbClr val="000000"/>
              </a:solidFill>
              <a:latin typeface="Arimo"/>
              <a:ea typeface="Arimo"/>
              <a:cs typeface="Arimo"/>
              <a:sym typeface="Arimo"/>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238220" y="1785780"/>
            <a:ext cx="16735680" cy="7916400"/>
            <a:chOff x="0" y="0"/>
            <a:chExt cx="22314240" cy="10555200"/>
          </a:xfrm>
        </p:grpSpPr>
        <p:sp>
          <p:nvSpPr>
            <p:cNvPr id="4" name="Freeform 4"/>
            <p:cNvSpPr/>
            <p:nvPr/>
          </p:nvSpPr>
          <p:spPr>
            <a:xfrm>
              <a:off x="0" y="0"/>
              <a:ext cx="22314240" cy="10555200"/>
            </a:xfrm>
            <a:custGeom>
              <a:avLst/>
              <a:gdLst/>
              <a:ahLst/>
              <a:cxnLst/>
              <a:rect l="l" t="t" r="r" b="b"/>
              <a:pathLst>
                <a:path w="22314240" h="10555200">
                  <a:moveTo>
                    <a:pt x="0" y="0"/>
                  </a:moveTo>
                  <a:lnTo>
                    <a:pt x="22314240" y="0"/>
                  </a:lnTo>
                  <a:lnTo>
                    <a:pt x="22314240" y="10555200"/>
                  </a:lnTo>
                  <a:lnTo>
                    <a:pt x="0" y="10555200"/>
                  </a:lnTo>
                  <a:close/>
                </a:path>
              </a:pathLst>
            </a:custGeom>
            <a:solidFill>
              <a:srgbClr val="000000">
                <a:alpha val="0"/>
              </a:srgbClr>
            </a:solidFill>
          </p:spPr>
        </p:sp>
        <p:sp>
          <p:nvSpPr>
            <p:cNvPr id="5" name="TextBox 5"/>
            <p:cNvSpPr txBox="1"/>
            <p:nvPr/>
          </p:nvSpPr>
          <p:spPr>
            <a:xfrm>
              <a:off x="0" y="-66675"/>
              <a:ext cx="22314240" cy="10621875"/>
            </a:xfrm>
            <a:prstGeom prst="rect">
              <a:avLst/>
            </a:prstGeom>
          </p:spPr>
          <p:txBody>
            <a:bodyPr lIns="0" tIns="0" rIns="0" bIns="0" rtlCol="0" anchor="t"/>
            <a:lstStyle/>
            <a:p>
              <a:pPr algn="l">
                <a:lnSpc>
                  <a:spcPts val="3600"/>
                </a:lnSpc>
              </a:pPr>
              <a:r>
                <a:rPr lang="en-US" sz="3000" spc="-1">
                  <a:solidFill>
                    <a:srgbClr val="000000"/>
                  </a:solidFill>
                  <a:latin typeface="Calibri (MS)"/>
                  <a:ea typeface="Calibri (MS)"/>
                  <a:cs typeface="Calibri (MS)"/>
                  <a:sym typeface="Calibri (MS)"/>
                </a:rPr>
                <a:t>Breast cancer is one of the leading causes of death among women worldwide, and early detection is crucial for improving survival rates. This project presents a deep learning-based approach for breast cancer detection using Convolutional Neural Networks (CNNs). The model is designed to classify mammogram images as either cancerous or non-cancerous, aiding in early diagnosis.</a:t>
              </a:r>
            </a:p>
            <a:p>
              <a:pPr algn="l">
                <a:lnSpc>
                  <a:spcPts val="3600"/>
                </a:lnSpc>
              </a:pPr>
              <a:endParaRPr lang="en-US" sz="3000" spc="-1">
                <a:solidFill>
                  <a:srgbClr val="000000"/>
                </a:solidFill>
                <a:latin typeface="Calibri (MS)"/>
                <a:ea typeface="Calibri (MS)"/>
                <a:cs typeface="Calibri (MS)"/>
                <a:sym typeface="Calibri (MS)"/>
              </a:endParaRPr>
            </a:p>
            <a:p>
              <a:pPr algn="l">
                <a:lnSpc>
                  <a:spcPts val="3600"/>
                </a:lnSpc>
              </a:pPr>
              <a:r>
                <a:rPr lang="en-US" sz="3000" spc="-1">
                  <a:solidFill>
                    <a:srgbClr val="000000"/>
                  </a:solidFill>
                  <a:latin typeface="Calibri (MS)"/>
                  <a:ea typeface="Calibri (MS)"/>
                  <a:cs typeface="Calibri (MS)"/>
                  <a:sym typeface="Calibri (MS)"/>
                </a:rPr>
                <a:t>Addressing class imbalance, we applied oversampling, data augmentation, and class weighting to enhance model performance. The trained CNN, comprising three convolutional layers with dropout regularization, achieved 75% accuracy using binary cross-entropy loss and the Adam optimizer.</a:t>
              </a:r>
            </a:p>
            <a:p>
              <a:pPr algn="l">
                <a:lnSpc>
                  <a:spcPts val="3600"/>
                </a:lnSpc>
              </a:pPr>
              <a:endParaRPr lang="en-US" sz="3000" spc="-1">
                <a:solidFill>
                  <a:srgbClr val="000000"/>
                </a:solidFill>
                <a:latin typeface="Calibri (MS)"/>
                <a:ea typeface="Calibri (MS)"/>
                <a:cs typeface="Calibri (MS)"/>
                <a:sym typeface="Calibri (MS)"/>
              </a:endParaRPr>
            </a:p>
            <a:p>
              <a:pPr algn="l">
                <a:lnSpc>
                  <a:spcPts val="3600"/>
                </a:lnSpc>
              </a:pPr>
              <a:r>
                <a:rPr lang="en-US" sz="3000" spc="-1">
                  <a:solidFill>
                    <a:srgbClr val="000000"/>
                  </a:solidFill>
                  <a:latin typeface="Calibri (MS)"/>
                  <a:ea typeface="Calibri (MS)"/>
                  <a:cs typeface="Calibri (MS)"/>
                  <a:sym typeface="Calibri (MS)"/>
                </a:rPr>
                <a:t>For real-world application, we developed a web-based interface using Flask as the backend and HTML, CSS, and JavaScript for the frontend. Users can upload mammogram images, and the model predicts whether the image contains signs of cancer. The backend processes images using PIL (Python Imaging Library), and CORS (Cross-Origin Resource Sharing) is enabled for smooth communication between frontend and backend.</a:t>
              </a:r>
            </a:p>
          </p:txBody>
        </p:sp>
      </p:grpSp>
      <p:grpSp>
        <p:nvGrpSpPr>
          <p:cNvPr id="6" name="Group 6"/>
          <p:cNvGrpSpPr/>
          <p:nvPr/>
        </p:nvGrpSpPr>
        <p:grpSpPr>
          <a:xfrm>
            <a:off x="1469340" y="514620"/>
            <a:ext cx="7010280" cy="1055160"/>
            <a:chOff x="0" y="0"/>
            <a:chExt cx="9347040" cy="1406880"/>
          </a:xfrm>
        </p:grpSpPr>
        <p:sp>
          <p:nvSpPr>
            <p:cNvPr id="7" name="Freeform 7"/>
            <p:cNvSpPr/>
            <p:nvPr/>
          </p:nvSpPr>
          <p:spPr>
            <a:xfrm>
              <a:off x="0" y="0"/>
              <a:ext cx="9347040" cy="1406880"/>
            </a:xfrm>
            <a:custGeom>
              <a:avLst/>
              <a:gdLst/>
              <a:ahLst/>
              <a:cxnLst/>
              <a:rect l="l" t="t" r="r" b="b"/>
              <a:pathLst>
                <a:path w="9347040" h="1406880">
                  <a:moveTo>
                    <a:pt x="0" y="0"/>
                  </a:moveTo>
                  <a:lnTo>
                    <a:pt x="9347040" y="0"/>
                  </a:lnTo>
                  <a:lnTo>
                    <a:pt x="9347040" y="1406880"/>
                  </a:lnTo>
                  <a:lnTo>
                    <a:pt x="0" y="1406880"/>
                  </a:lnTo>
                  <a:close/>
                </a:path>
              </a:pathLst>
            </a:custGeom>
            <a:solidFill>
              <a:srgbClr val="000000">
                <a:alpha val="0"/>
              </a:srgbClr>
            </a:solidFill>
          </p:spPr>
        </p:sp>
        <p:sp>
          <p:nvSpPr>
            <p:cNvPr id="8" name="TextBox 8"/>
            <p:cNvSpPr txBox="1"/>
            <p:nvPr/>
          </p:nvSpPr>
          <p:spPr>
            <a:xfrm>
              <a:off x="0" y="-123825"/>
              <a:ext cx="9347040" cy="1530705"/>
            </a:xfrm>
            <a:prstGeom prst="rect">
              <a:avLst/>
            </a:prstGeom>
          </p:spPr>
          <p:txBody>
            <a:bodyPr lIns="0" tIns="0" rIns="0" bIns="0" rtlCol="0" anchor="t"/>
            <a:lstStyle/>
            <a:p>
              <a:pPr algn="l">
                <a:lnSpc>
                  <a:spcPts val="7200"/>
                </a:lnSpc>
              </a:pPr>
              <a:r>
                <a:rPr lang="en-US" sz="6000" b="1" spc="-1">
                  <a:solidFill>
                    <a:srgbClr val="000000"/>
                  </a:solidFill>
                  <a:latin typeface="Arial Bold"/>
                  <a:ea typeface="Arial Bold"/>
                  <a:cs typeface="Arial Bold"/>
                  <a:sym typeface="Arial Bold"/>
                </a:rPr>
                <a:t>Abstract</a:t>
              </a:r>
            </a:p>
          </p:txBody>
        </p:sp>
      </p:gr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659960" y="611820"/>
            <a:ext cx="6314760" cy="916920"/>
            <a:chOff x="0" y="0"/>
            <a:chExt cx="8419680" cy="1222560"/>
          </a:xfrm>
        </p:grpSpPr>
        <p:sp>
          <p:nvSpPr>
            <p:cNvPr id="4" name="Freeform 4"/>
            <p:cNvSpPr/>
            <p:nvPr/>
          </p:nvSpPr>
          <p:spPr>
            <a:xfrm>
              <a:off x="0" y="0"/>
              <a:ext cx="8419680" cy="1222560"/>
            </a:xfrm>
            <a:custGeom>
              <a:avLst/>
              <a:gdLst/>
              <a:ahLst/>
              <a:cxnLst/>
              <a:rect l="l" t="t" r="r" b="b"/>
              <a:pathLst>
                <a:path w="8419680" h="1222560">
                  <a:moveTo>
                    <a:pt x="0" y="0"/>
                  </a:moveTo>
                  <a:lnTo>
                    <a:pt x="8419680" y="0"/>
                  </a:lnTo>
                  <a:lnTo>
                    <a:pt x="8419680" y="1222560"/>
                  </a:lnTo>
                  <a:lnTo>
                    <a:pt x="0" y="1222560"/>
                  </a:lnTo>
                  <a:close/>
                </a:path>
              </a:pathLst>
            </a:custGeom>
            <a:solidFill>
              <a:srgbClr val="000000">
                <a:alpha val="0"/>
              </a:srgbClr>
            </a:solidFill>
          </p:spPr>
        </p:sp>
        <p:sp>
          <p:nvSpPr>
            <p:cNvPr id="5" name="TextBox 5"/>
            <p:cNvSpPr txBox="1"/>
            <p:nvPr/>
          </p:nvSpPr>
          <p:spPr>
            <a:xfrm>
              <a:off x="0" y="-104775"/>
              <a:ext cx="8419680" cy="1327335"/>
            </a:xfrm>
            <a:prstGeom prst="rect">
              <a:avLst/>
            </a:prstGeom>
          </p:spPr>
          <p:txBody>
            <a:bodyPr lIns="0" tIns="0" rIns="0" bIns="0" rtlCol="0" anchor="ctr"/>
            <a:lstStyle/>
            <a:p>
              <a:pPr algn="l">
                <a:lnSpc>
                  <a:spcPts val="6480"/>
                </a:lnSpc>
              </a:pPr>
              <a:r>
                <a:rPr lang="en-US" sz="5400" b="1" spc="-1">
                  <a:solidFill>
                    <a:srgbClr val="000000"/>
                  </a:solidFill>
                  <a:latin typeface="Arial Bold"/>
                  <a:ea typeface="Arial Bold"/>
                  <a:cs typeface="Arial Bold"/>
                  <a:sym typeface="Arial Bold"/>
                </a:rPr>
                <a:t>Introduction</a:t>
              </a:r>
            </a:p>
          </p:txBody>
        </p:sp>
      </p:grpSp>
      <p:grpSp>
        <p:nvGrpSpPr>
          <p:cNvPr id="6" name="Group 6"/>
          <p:cNvGrpSpPr/>
          <p:nvPr/>
        </p:nvGrpSpPr>
        <p:grpSpPr>
          <a:xfrm>
            <a:off x="914220" y="1528200"/>
            <a:ext cx="16459200" cy="7860780"/>
            <a:chOff x="0" y="0"/>
            <a:chExt cx="21945600" cy="10481040"/>
          </a:xfrm>
        </p:grpSpPr>
        <p:sp>
          <p:nvSpPr>
            <p:cNvPr id="7" name="Freeform 7"/>
            <p:cNvSpPr/>
            <p:nvPr/>
          </p:nvSpPr>
          <p:spPr>
            <a:xfrm>
              <a:off x="0" y="0"/>
              <a:ext cx="21945600" cy="10481040"/>
            </a:xfrm>
            <a:custGeom>
              <a:avLst/>
              <a:gdLst/>
              <a:ahLst/>
              <a:cxnLst/>
              <a:rect l="l" t="t" r="r" b="b"/>
              <a:pathLst>
                <a:path w="21945600" h="10481040">
                  <a:moveTo>
                    <a:pt x="0" y="0"/>
                  </a:moveTo>
                  <a:lnTo>
                    <a:pt x="21945600" y="0"/>
                  </a:lnTo>
                  <a:lnTo>
                    <a:pt x="21945600" y="10481040"/>
                  </a:lnTo>
                  <a:lnTo>
                    <a:pt x="0" y="10481040"/>
                  </a:lnTo>
                  <a:close/>
                </a:path>
              </a:pathLst>
            </a:custGeom>
            <a:solidFill>
              <a:srgbClr val="000000">
                <a:alpha val="0"/>
              </a:srgbClr>
            </a:solidFill>
          </p:spPr>
        </p:sp>
        <p:sp>
          <p:nvSpPr>
            <p:cNvPr id="8" name="TextBox 8"/>
            <p:cNvSpPr txBox="1"/>
            <p:nvPr/>
          </p:nvSpPr>
          <p:spPr>
            <a:xfrm>
              <a:off x="0" y="9525"/>
              <a:ext cx="21945600" cy="10471515"/>
            </a:xfrm>
            <a:prstGeom prst="rect">
              <a:avLst/>
            </a:prstGeom>
          </p:spPr>
          <p:txBody>
            <a:bodyPr lIns="0" tIns="0" rIns="0" bIns="0" rtlCol="0" anchor="t"/>
            <a:lstStyle/>
            <a:p>
              <a:pPr marL="633248" lvl="1" indent="-316624" algn="just">
                <a:lnSpc>
                  <a:spcPts val="3233"/>
                </a:lnSpc>
                <a:buFont typeface="Arial"/>
                <a:buChar char="•"/>
              </a:pPr>
              <a:r>
                <a:rPr lang="en-US" sz="3367" spc="-1">
                  <a:solidFill>
                    <a:srgbClr val="000000"/>
                  </a:solidFill>
                  <a:latin typeface="Calibri (MS)"/>
                  <a:ea typeface="Calibri (MS)"/>
                  <a:cs typeface="Calibri (MS)"/>
                  <a:sym typeface="Calibri (MS)"/>
                </a:rPr>
                <a:t>Breast cancer is one of the leading causes of death among women, and early detection is crucial for improving survival rates. Traditional mammogram analysis relies on radiologists, making the process time-consuming and sometimes subjective.</a:t>
              </a:r>
            </a:p>
            <a:p>
              <a:pPr marL="633248" lvl="1" indent="-316624" algn="just">
                <a:lnSpc>
                  <a:spcPts val="3233"/>
                </a:lnSpc>
                <a:buFont typeface="Arial"/>
                <a:buChar char="•"/>
              </a:pPr>
              <a:r>
                <a:rPr lang="en-US" sz="3367" spc="-1">
                  <a:solidFill>
                    <a:srgbClr val="000000"/>
                  </a:solidFill>
                  <a:latin typeface="Calibri (MS)"/>
                  <a:ea typeface="Calibri (MS)"/>
                  <a:cs typeface="Calibri (MS)"/>
                  <a:sym typeface="Calibri (MS)"/>
                </a:rPr>
                <a:t>To tackle this, we developed a Convolutional Neural Network (CNN) that classifies mammogram images as cancerous or non-cancerous. One of the biggest challenges we faced was class imbalance, as cancerous images were fewer in number. To improve model performance, we applied oversampling, data augmentation, and class weighting, for better accuracy.</a:t>
              </a:r>
            </a:p>
            <a:p>
              <a:pPr marL="633248" lvl="1" indent="-316624" algn="just">
                <a:lnSpc>
                  <a:spcPts val="3233"/>
                </a:lnSpc>
                <a:buFont typeface="Arial"/>
                <a:buChar char="•"/>
              </a:pPr>
              <a:r>
                <a:rPr lang="en-US" sz="3367" spc="-1">
                  <a:solidFill>
                    <a:srgbClr val="000000"/>
                  </a:solidFill>
                  <a:latin typeface="Calibri (MS)"/>
                  <a:ea typeface="Calibri (MS)"/>
                  <a:cs typeface="Calibri (MS)"/>
                  <a:sym typeface="Calibri (MS)"/>
                </a:rPr>
                <a:t>To make this technology accessible, we built a web-based application using Flask, where users can upload mammogram images and receive real-time predictions. This system aims to assist doctors in early diagnosis, reducing human error and enhancing the efficiency of breast cancer detection.</a:t>
              </a:r>
            </a:p>
          </p:txBody>
        </p:sp>
      </p:gr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809540" y="0"/>
            <a:ext cx="5415120" cy="1454760"/>
            <a:chOff x="0" y="0"/>
            <a:chExt cx="7220160" cy="1939680"/>
          </a:xfrm>
        </p:grpSpPr>
        <p:sp>
          <p:nvSpPr>
            <p:cNvPr id="4" name="Freeform 4"/>
            <p:cNvSpPr/>
            <p:nvPr/>
          </p:nvSpPr>
          <p:spPr>
            <a:xfrm>
              <a:off x="0" y="0"/>
              <a:ext cx="7220160" cy="1939680"/>
            </a:xfrm>
            <a:custGeom>
              <a:avLst/>
              <a:gdLst/>
              <a:ahLst/>
              <a:cxnLst/>
              <a:rect l="l" t="t" r="r" b="b"/>
              <a:pathLst>
                <a:path w="7220160" h="1939680">
                  <a:moveTo>
                    <a:pt x="0" y="0"/>
                  </a:moveTo>
                  <a:lnTo>
                    <a:pt x="7220160" y="0"/>
                  </a:lnTo>
                  <a:lnTo>
                    <a:pt x="7220160" y="1939680"/>
                  </a:lnTo>
                  <a:lnTo>
                    <a:pt x="0" y="1939680"/>
                  </a:lnTo>
                  <a:close/>
                </a:path>
              </a:pathLst>
            </a:custGeom>
            <a:solidFill>
              <a:srgbClr val="000000">
                <a:alpha val="0"/>
              </a:srgbClr>
            </a:solidFill>
          </p:spPr>
        </p:sp>
        <p:sp>
          <p:nvSpPr>
            <p:cNvPr id="5" name="TextBox 5"/>
            <p:cNvSpPr txBox="1"/>
            <p:nvPr/>
          </p:nvSpPr>
          <p:spPr>
            <a:xfrm>
              <a:off x="0" y="-133350"/>
              <a:ext cx="7220160" cy="2073030"/>
            </a:xfrm>
            <a:prstGeom prst="rect">
              <a:avLst/>
            </a:prstGeom>
          </p:spPr>
          <p:txBody>
            <a:bodyPr lIns="0" tIns="0" rIns="0" bIns="0" rtlCol="0" anchor="ctr"/>
            <a:lstStyle/>
            <a:p>
              <a:pPr algn="ctr">
                <a:lnSpc>
                  <a:spcPts val="7559"/>
                </a:lnSpc>
              </a:pPr>
              <a:r>
                <a:rPr lang="en-US" sz="6300" b="1" spc="-1" dirty="0" smtClean="0">
                  <a:solidFill>
                    <a:srgbClr val="000000"/>
                  </a:solidFill>
                  <a:latin typeface="Calibri (MS) Bold"/>
                  <a:ea typeface="Calibri (MS) Bold"/>
                  <a:cs typeface="Calibri (MS) Bold"/>
                  <a:sym typeface="Calibri (MS) Bold"/>
                </a:rPr>
                <a:t>Methodology</a:t>
              </a:r>
              <a:r>
                <a:rPr lang="en-US" sz="6300" spc="-1" dirty="0" smtClean="0">
                  <a:solidFill>
                    <a:srgbClr val="000000"/>
                  </a:solidFill>
                  <a:latin typeface="Calibri (MS)"/>
                  <a:ea typeface="Calibri (MS)"/>
                  <a:cs typeface="Calibri (MS)"/>
                  <a:sym typeface="Calibri (MS)"/>
                </a:rPr>
                <a:t> </a:t>
              </a:r>
              <a:endParaRPr lang="en-US" sz="6300" spc="-1" dirty="0">
                <a:solidFill>
                  <a:srgbClr val="000000"/>
                </a:solidFill>
                <a:latin typeface="Calibri (MS)"/>
                <a:ea typeface="Calibri (MS)"/>
                <a:cs typeface="Calibri (MS)"/>
                <a:sym typeface="Calibri (MS)"/>
              </a:endParaRPr>
            </a:p>
          </p:txBody>
        </p:sp>
      </p:grpSp>
      <p:grpSp>
        <p:nvGrpSpPr>
          <p:cNvPr id="6" name="Group 6"/>
          <p:cNvGrpSpPr/>
          <p:nvPr/>
        </p:nvGrpSpPr>
        <p:grpSpPr>
          <a:xfrm>
            <a:off x="621540" y="2007180"/>
            <a:ext cx="17309160" cy="6193800"/>
            <a:chOff x="0" y="0"/>
            <a:chExt cx="23078880" cy="8258400"/>
          </a:xfrm>
        </p:grpSpPr>
        <p:sp>
          <p:nvSpPr>
            <p:cNvPr id="7" name="Freeform 7"/>
            <p:cNvSpPr/>
            <p:nvPr/>
          </p:nvSpPr>
          <p:spPr>
            <a:xfrm>
              <a:off x="0" y="0"/>
              <a:ext cx="23078880" cy="8258400"/>
            </a:xfrm>
            <a:custGeom>
              <a:avLst/>
              <a:gdLst/>
              <a:ahLst/>
              <a:cxnLst/>
              <a:rect l="l" t="t" r="r" b="b"/>
              <a:pathLst>
                <a:path w="23078880" h="8258400">
                  <a:moveTo>
                    <a:pt x="0" y="0"/>
                  </a:moveTo>
                  <a:lnTo>
                    <a:pt x="23078880" y="0"/>
                  </a:lnTo>
                  <a:lnTo>
                    <a:pt x="23078880" y="8258400"/>
                  </a:lnTo>
                  <a:lnTo>
                    <a:pt x="0" y="8258400"/>
                  </a:lnTo>
                  <a:close/>
                </a:path>
              </a:pathLst>
            </a:custGeom>
            <a:solidFill>
              <a:srgbClr val="000000">
                <a:alpha val="0"/>
              </a:srgbClr>
            </a:solidFill>
          </p:spPr>
        </p:sp>
        <p:sp>
          <p:nvSpPr>
            <p:cNvPr id="8" name="TextBox 8"/>
            <p:cNvSpPr txBox="1"/>
            <p:nvPr/>
          </p:nvSpPr>
          <p:spPr>
            <a:xfrm>
              <a:off x="0" y="-66675"/>
              <a:ext cx="23078880" cy="8325075"/>
            </a:xfrm>
            <a:prstGeom prst="rect">
              <a:avLst/>
            </a:prstGeom>
          </p:spPr>
          <p:txBody>
            <a:bodyPr lIns="0" tIns="0" rIns="0" bIns="0" rtlCol="0" anchor="t"/>
            <a:lstStyle/>
            <a:p>
              <a:pPr algn="l">
                <a:lnSpc>
                  <a:spcPts val="4320"/>
                </a:lnSpc>
              </a:pPr>
              <a:r>
                <a:rPr lang="en-US" sz="3600" b="1" spc="-1">
                  <a:solidFill>
                    <a:srgbClr val="000000"/>
                  </a:solidFill>
                  <a:latin typeface="Calibri (MS) Bold"/>
                  <a:ea typeface="Calibri (MS) Bold"/>
                  <a:cs typeface="Calibri (MS) Bold"/>
                  <a:sym typeface="Calibri (MS) Bold"/>
                </a:rPr>
                <a:t>Dataset</a:t>
              </a:r>
              <a:r>
                <a:rPr lang="en-US" sz="3600" spc="-1">
                  <a:solidFill>
                    <a:srgbClr val="000000"/>
                  </a:solidFill>
                  <a:latin typeface="Calibri (MS)"/>
                  <a:ea typeface="Calibri (MS)"/>
                  <a:cs typeface="Calibri (MS)"/>
                  <a:sym typeface="Calibri (MS)"/>
                </a:rPr>
                <a:t>: Source (RSNA Breast Cancer Dataset)</a:t>
              </a:r>
            </a:p>
            <a:p>
              <a:pPr algn="l">
                <a:lnSpc>
                  <a:spcPts val="4320"/>
                </a:lnSpc>
              </a:pPr>
              <a:r>
                <a:rPr lang="en-US" sz="3600" b="1" spc="-1">
                  <a:solidFill>
                    <a:srgbClr val="000000"/>
                  </a:solidFill>
                  <a:latin typeface="Calibri (MS) Bold"/>
                  <a:ea typeface="Calibri (MS) Bold"/>
                  <a:cs typeface="Calibri (MS) Bold"/>
                  <a:sym typeface="Calibri (MS) Bold"/>
                </a:rPr>
                <a:t>Preprocessing steps </a:t>
              </a:r>
              <a:r>
                <a:rPr lang="en-US" sz="3600" spc="-1">
                  <a:solidFill>
                    <a:srgbClr val="000000"/>
                  </a:solidFill>
                  <a:latin typeface="Calibri (MS)"/>
                  <a:ea typeface="Calibri (MS)"/>
                  <a:cs typeface="Calibri (MS)"/>
                  <a:sym typeface="Calibri (MS)"/>
                </a:rPr>
                <a:t>: 1) loading the data set</a:t>
              </a:r>
            </a:p>
            <a:p>
              <a:pPr algn="l">
                <a:lnSpc>
                  <a:spcPts val="4320"/>
                </a:lnSpc>
              </a:pPr>
              <a:r>
                <a:rPr lang="en-US" sz="3600" spc="-1">
                  <a:solidFill>
                    <a:srgbClr val="000000"/>
                  </a:solidFill>
                  <a:latin typeface="Calibri (MS)"/>
                  <a:ea typeface="Calibri (MS)"/>
                  <a:cs typeface="Calibri (MS)"/>
                  <a:sym typeface="Calibri (MS)"/>
                </a:rPr>
                <a:t>			2) validation of existing images</a:t>
              </a:r>
            </a:p>
            <a:p>
              <a:pPr algn="l">
                <a:lnSpc>
                  <a:spcPts val="4320"/>
                </a:lnSpc>
              </a:pPr>
              <a:r>
                <a:rPr lang="en-US" sz="3600" spc="-1">
                  <a:solidFill>
                    <a:srgbClr val="000000"/>
                  </a:solidFill>
                  <a:latin typeface="Calibri (MS)"/>
                  <a:ea typeface="Calibri (MS)"/>
                  <a:cs typeface="Calibri (MS)"/>
                  <a:sym typeface="Calibri (MS)"/>
                </a:rPr>
                <a:t>			3) handling data imbalance by over sampling cancerous images</a:t>
              </a:r>
            </a:p>
            <a:p>
              <a:pPr algn="l">
                <a:lnSpc>
                  <a:spcPts val="4320"/>
                </a:lnSpc>
              </a:pPr>
              <a:r>
                <a:rPr lang="en-US" sz="3600" b="1" spc="-1">
                  <a:solidFill>
                    <a:srgbClr val="000000"/>
                  </a:solidFill>
                  <a:latin typeface="Calibri (MS) Bold"/>
                  <a:ea typeface="Calibri (MS) Bold"/>
                  <a:cs typeface="Calibri (MS) Bold"/>
                  <a:sym typeface="Calibri (MS) Bold"/>
                </a:rPr>
                <a:t>Algorithms/Models used : </a:t>
              </a:r>
              <a:r>
                <a:rPr lang="en-US" sz="3600" spc="-1">
                  <a:solidFill>
                    <a:srgbClr val="000000"/>
                  </a:solidFill>
                  <a:latin typeface="Calibri (MS)"/>
                  <a:ea typeface="Calibri (MS)"/>
                  <a:cs typeface="Calibri (MS)"/>
                  <a:sym typeface="Calibri (MS)"/>
                </a:rPr>
                <a:t>1)</a:t>
              </a:r>
              <a:r>
                <a:rPr lang="en-US" sz="3600" b="1" spc="-1">
                  <a:solidFill>
                    <a:srgbClr val="000000"/>
                  </a:solidFill>
                  <a:latin typeface="Calibri (MS) Bold"/>
                  <a:ea typeface="Calibri (MS) Bold"/>
                  <a:cs typeface="Calibri (MS) Bold"/>
                  <a:sym typeface="Calibri (MS) Bold"/>
                </a:rPr>
                <a:t> </a:t>
              </a:r>
              <a:r>
                <a:rPr lang="en-US" sz="3600" spc="-1">
                  <a:solidFill>
                    <a:srgbClr val="000000"/>
                  </a:solidFill>
                  <a:latin typeface="Calibri (MS)"/>
                  <a:ea typeface="Calibri (MS)"/>
                  <a:cs typeface="Calibri (MS)"/>
                  <a:sym typeface="Calibri (MS)"/>
                </a:rPr>
                <a:t>sequential model</a:t>
              </a:r>
            </a:p>
            <a:p>
              <a:pPr algn="l">
                <a:lnSpc>
                  <a:spcPts val="4320"/>
                </a:lnSpc>
              </a:pPr>
              <a:r>
                <a:rPr lang="en-US" sz="3600" spc="-1">
                  <a:solidFill>
                    <a:srgbClr val="000000"/>
                  </a:solidFill>
                  <a:latin typeface="Calibri (MS)"/>
                  <a:ea typeface="Calibri (MS)"/>
                  <a:cs typeface="Calibri (MS)"/>
                  <a:sym typeface="Calibri (MS)"/>
                </a:rPr>
                <a:t>				          2) CNN</a:t>
              </a:r>
            </a:p>
            <a:p>
              <a:pPr algn="l">
                <a:lnSpc>
                  <a:spcPts val="4320"/>
                </a:lnSpc>
              </a:pPr>
              <a:r>
                <a:rPr lang="en-US" sz="3600" spc="-1">
                  <a:solidFill>
                    <a:srgbClr val="000000"/>
                  </a:solidFill>
                  <a:latin typeface="Calibri (MS)"/>
                  <a:ea typeface="Calibri (MS)"/>
                  <a:cs typeface="Calibri (MS)"/>
                  <a:sym typeface="Calibri (MS)"/>
                </a:rPr>
                <a:t>				          3) conv 2D</a:t>
              </a:r>
            </a:p>
            <a:p>
              <a:pPr algn="l">
                <a:lnSpc>
                  <a:spcPts val="4320"/>
                </a:lnSpc>
              </a:pPr>
              <a:r>
                <a:rPr lang="en-US" sz="3600" spc="-1">
                  <a:solidFill>
                    <a:srgbClr val="000000"/>
                  </a:solidFill>
                  <a:latin typeface="Calibri (MS)"/>
                  <a:ea typeface="Calibri (MS)"/>
                  <a:cs typeface="Calibri (MS)"/>
                  <a:sym typeface="Calibri (MS)"/>
                </a:rPr>
                <a:t>				          4) max pooling </a:t>
              </a:r>
            </a:p>
          </p:txBody>
        </p:sp>
      </p:gr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1200" y="2400300"/>
            <a:ext cx="8534400" cy="6546943"/>
          </a:xfrm>
          <a:prstGeom prst="rect">
            <a:avLst/>
          </a:prstGeom>
        </p:spPr>
      </p:pic>
      <p:sp>
        <p:nvSpPr>
          <p:cNvPr id="3" name="TextBox 2"/>
          <p:cNvSpPr txBox="1"/>
          <p:nvPr/>
        </p:nvSpPr>
        <p:spPr>
          <a:xfrm>
            <a:off x="1066800" y="419100"/>
            <a:ext cx="6477000" cy="1061829"/>
          </a:xfrm>
          <a:prstGeom prst="rect">
            <a:avLst/>
          </a:prstGeom>
          <a:noFill/>
        </p:spPr>
        <p:txBody>
          <a:bodyPr wrap="square" rtlCol="0">
            <a:spAutoFit/>
          </a:bodyPr>
          <a:lstStyle/>
          <a:p>
            <a:r>
              <a:rPr lang="en-US" sz="6300" b="1" dirty="0" smtClean="0"/>
              <a:t>UML Diagrams</a:t>
            </a:r>
            <a:endParaRPr lang="en-IN" sz="6300" b="1" dirty="0"/>
          </a:p>
        </p:txBody>
      </p:sp>
    </p:spTree>
    <p:extLst>
      <p:ext uri="{BB962C8B-B14F-4D97-AF65-F5344CB8AC3E}">
        <p14:creationId xmlns:p14="http://schemas.microsoft.com/office/powerpoint/2010/main" val="22110324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800" y="1790700"/>
            <a:ext cx="13563600" cy="6279445"/>
          </a:xfrm>
          <a:prstGeom prst="rect">
            <a:avLst/>
          </a:prstGeom>
        </p:spPr>
      </p:pic>
      <p:sp>
        <p:nvSpPr>
          <p:cNvPr id="3" name="TextBox 2"/>
          <p:cNvSpPr txBox="1"/>
          <p:nvPr/>
        </p:nvSpPr>
        <p:spPr>
          <a:xfrm>
            <a:off x="1447800" y="571500"/>
            <a:ext cx="5257800" cy="584775"/>
          </a:xfrm>
          <a:prstGeom prst="rect">
            <a:avLst/>
          </a:prstGeom>
          <a:noFill/>
        </p:spPr>
        <p:txBody>
          <a:bodyPr wrap="square" rtlCol="0">
            <a:spAutoFit/>
          </a:bodyPr>
          <a:lstStyle/>
          <a:p>
            <a:r>
              <a:rPr lang="en-US" sz="3200" b="1" dirty="0" smtClean="0"/>
              <a:t>Sequence diagram</a:t>
            </a:r>
            <a:endParaRPr lang="en-IN" sz="3200" b="1" dirty="0"/>
          </a:p>
        </p:txBody>
      </p:sp>
    </p:spTree>
    <p:extLst>
      <p:ext uri="{BB962C8B-B14F-4D97-AF65-F5344CB8AC3E}">
        <p14:creationId xmlns:p14="http://schemas.microsoft.com/office/powerpoint/2010/main" val="177291495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207369" y="1060207"/>
            <a:ext cx="4783016" cy="5128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rPr>
              <a:t>Data Pre-Processing</a:t>
            </a:r>
            <a:endParaRPr lang="en-IN" sz="2400" dirty="0"/>
          </a:p>
        </p:txBody>
      </p:sp>
      <p:sp>
        <p:nvSpPr>
          <p:cNvPr id="13" name="Diamond 12"/>
          <p:cNvSpPr/>
          <p:nvPr/>
        </p:nvSpPr>
        <p:spPr>
          <a:xfrm>
            <a:off x="7848463" y="7486560"/>
            <a:ext cx="1524000" cy="914400"/>
          </a:xfrm>
          <a:prstGeom prst="diamon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smtClean="0">
                <a:solidFill>
                  <a:schemeClr val="tx1"/>
                </a:solidFill>
              </a:rPr>
              <a:t>i</a:t>
            </a:r>
            <a:r>
              <a:rPr lang="en-US" sz="2400" dirty="0" smtClean="0">
                <a:solidFill>
                  <a:schemeClr val="tx1"/>
                </a:solidFill>
              </a:rPr>
              <a:t>=10</a:t>
            </a:r>
            <a:endParaRPr lang="en-IN" sz="2400" dirty="0">
              <a:solidFill>
                <a:schemeClr val="tx1"/>
              </a:solidFill>
            </a:endParaRPr>
          </a:p>
        </p:txBody>
      </p:sp>
      <p:sp>
        <p:nvSpPr>
          <p:cNvPr id="14" name="Flowchart: Data 13"/>
          <p:cNvSpPr/>
          <p:nvPr/>
        </p:nvSpPr>
        <p:spPr>
          <a:xfrm>
            <a:off x="11723790" y="6491035"/>
            <a:ext cx="2085344" cy="512884"/>
          </a:xfrm>
          <a:prstGeom prst="flowChartInputOutpu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rPr>
              <a:t>Test set</a:t>
            </a:r>
            <a:endParaRPr lang="en-IN" sz="2400" dirty="0"/>
          </a:p>
        </p:txBody>
      </p:sp>
      <p:sp>
        <p:nvSpPr>
          <p:cNvPr id="15" name="Flowchart: Data 14"/>
          <p:cNvSpPr/>
          <p:nvPr/>
        </p:nvSpPr>
        <p:spPr>
          <a:xfrm>
            <a:off x="3301580" y="6854103"/>
            <a:ext cx="2209800" cy="500525"/>
          </a:xfrm>
          <a:prstGeom prst="flowChartInputOutpu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rPr>
              <a:t>Train set</a:t>
            </a:r>
            <a:endParaRPr lang="en-IN" sz="2400" dirty="0"/>
          </a:p>
        </p:txBody>
      </p:sp>
      <p:sp>
        <p:nvSpPr>
          <p:cNvPr id="16" name="Rectangle 15"/>
          <p:cNvSpPr/>
          <p:nvPr/>
        </p:nvSpPr>
        <p:spPr>
          <a:xfrm>
            <a:off x="6196770" y="8654888"/>
            <a:ext cx="4783016" cy="5128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rPr>
              <a:t>Averaging the output metrics</a:t>
            </a:r>
            <a:endParaRPr lang="en-IN" sz="2400" dirty="0"/>
          </a:p>
        </p:txBody>
      </p:sp>
      <p:sp>
        <p:nvSpPr>
          <p:cNvPr id="17" name="Rectangle 16"/>
          <p:cNvSpPr/>
          <p:nvPr/>
        </p:nvSpPr>
        <p:spPr>
          <a:xfrm>
            <a:off x="7435666" y="4230256"/>
            <a:ext cx="2391509" cy="51523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smtClean="0">
                <a:solidFill>
                  <a:schemeClr val="tx1"/>
                </a:solidFill>
              </a:rPr>
              <a:t>i</a:t>
            </a:r>
            <a:r>
              <a:rPr lang="en-US" sz="2400" dirty="0" smtClean="0">
                <a:solidFill>
                  <a:schemeClr val="tx1"/>
                </a:solidFill>
              </a:rPr>
              <a:t>=1</a:t>
            </a:r>
            <a:endParaRPr lang="en-IN" sz="2400" dirty="0"/>
          </a:p>
        </p:txBody>
      </p:sp>
      <p:sp>
        <p:nvSpPr>
          <p:cNvPr id="18" name="Rectangle 17"/>
          <p:cNvSpPr/>
          <p:nvPr/>
        </p:nvSpPr>
        <p:spPr>
          <a:xfrm>
            <a:off x="6196770" y="6750180"/>
            <a:ext cx="4783016" cy="5128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rPr>
              <a:t>Plotting Performance History</a:t>
            </a:r>
            <a:endParaRPr lang="en-IN" sz="2400" dirty="0"/>
          </a:p>
        </p:txBody>
      </p:sp>
      <p:sp>
        <p:nvSpPr>
          <p:cNvPr id="19" name="Rectangle 18"/>
          <p:cNvSpPr/>
          <p:nvPr/>
        </p:nvSpPr>
        <p:spPr>
          <a:xfrm>
            <a:off x="6194964" y="5902240"/>
            <a:ext cx="4783016" cy="5128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rPr>
              <a:t>Sequential Model Training</a:t>
            </a:r>
            <a:endParaRPr lang="en-IN" sz="2400" dirty="0"/>
          </a:p>
        </p:txBody>
      </p:sp>
      <p:sp>
        <p:nvSpPr>
          <p:cNvPr id="20" name="Rectangle 19"/>
          <p:cNvSpPr/>
          <p:nvPr/>
        </p:nvSpPr>
        <p:spPr>
          <a:xfrm>
            <a:off x="6203876" y="5080549"/>
            <a:ext cx="4783016" cy="5128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smtClean="0">
                <a:solidFill>
                  <a:schemeClr val="tx1"/>
                </a:solidFill>
              </a:rPr>
              <a:t>i</a:t>
            </a:r>
            <a:r>
              <a:rPr lang="en-US" sz="2400" dirty="0" err="1">
                <a:solidFill>
                  <a:schemeClr val="tx1"/>
                </a:solidFill>
              </a:rPr>
              <a:t>-</a:t>
            </a:r>
            <a:r>
              <a:rPr lang="en-US" sz="2400" dirty="0" err="1" smtClean="0">
                <a:solidFill>
                  <a:schemeClr val="tx1"/>
                </a:solidFill>
              </a:rPr>
              <a:t>th</a:t>
            </a:r>
            <a:r>
              <a:rPr lang="en-US" sz="2400" dirty="0" smtClean="0">
                <a:solidFill>
                  <a:schemeClr val="tx1"/>
                </a:solidFill>
              </a:rPr>
              <a:t> iteration</a:t>
            </a:r>
            <a:endParaRPr lang="en-IN" sz="2400" dirty="0"/>
          </a:p>
        </p:txBody>
      </p:sp>
      <p:sp>
        <p:nvSpPr>
          <p:cNvPr id="21" name="Rectangle 20"/>
          <p:cNvSpPr/>
          <p:nvPr/>
        </p:nvSpPr>
        <p:spPr>
          <a:xfrm>
            <a:off x="6180991" y="1804396"/>
            <a:ext cx="4783016" cy="5128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rPr>
              <a:t>Data Validatio</a:t>
            </a:r>
            <a:r>
              <a:rPr lang="en-US" sz="2400" dirty="0">
                <a:solidFill>
                  <a:schemeClr val="tx1"/>
                </a:solidFill>
              </a:rPr>
              <a:t>n</a:t>
            </a:r>
            <a:endParaRPr lang="en-IN" sz="2400" dirty="0"/>
          </a:p>
        </p:txBody>
      </p:sp>
      <p:sp>
        <p:nvSpPr>
          <p:cNvPr id="22" name="Rectangle 21"/>
          <p:cNvSpPr/>
          <p:nvPr/>
        </p:nvSpPr>
        <p:spPr>
          <a:xfrm>
            <a:off x="6180991" y="2595154"/>
            <a:ext cx="4783016" cy="5128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rPr>
              <a:t>Data Balancing</a:t>
            </a:r>
            <a:endParaRPr lang="en-IN" sz="2400" dirty="0"/>
          </a:p>
        </p:txBody>
      </p:sp>
      <p:sp>
        <p:nvSpPr>
          <p:cNvPr id="23" name="Rectangle 22"/>
          <p:cNvSpPr/>
          <p:nvPr/>
        </p:nvSpPr>
        <p:spPr>
          <a:xfrm>
            <a:off x="6193396" y="3426036"/>
            <a:ext cx="4783016" cy="5128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rPr>
              <a:t>Splitting data sets into subsets</a:t>
            </a:r>
            <a:endParaRPr lang="en-IN" sz="2400" dirty="0"/>
          </a:p>
        </p:txBody>
      </p:sp>
      <p:sp>
        <p:nvSpPr>
          <p:cNvPr id="25" name="Flowchart: Terminator 24"/>
          <p:cNvSpPr/>
          <p:nvPr/>
        </p:nvSpPr>
        <p:spPr>
          <a:xfrm>
            <a:off x="6207369" y="273521"/>
            <a:ext cx="4769043" cy="533400"/>
          </a:xfrm>
          <a:prstGeom prst="flowChartTermina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rPr>
              <a:t>Breast Cancer Detection</a:t>
            </a:r>
            <a:endParaRPr lang="en-IN" sz="2400" dirty="0">
              <a:solidFill>
                <a:schemeClr val="tx1"/>
              </a:solidFill>
            </a:endParaRPr>
          </a:p>
        </p:txBody>
      </p:sp>
      <p:cxnSp>
        <p:nvCxnSpPr>
          <p:cNvPr id="27" name="Straight Arrow Connector 26"/>
          <p:cNvCxnSpPr>
            <a:stCxn id="25" idx="2"/>
            <a:endCxn id="4" idx="0"/>
          </p:cNvCxnSpPr>
          <p:nvPr/>
        </p:nvCxnSpPr>
        <p:spPr>
          <a:xfrm>
            <a:off x="8591891" y="806921"/>
            <a:ext cx="6986" cy="25328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8574306" y="1554929"/>
            <a:ext cx="6986" cy="25328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8565513" y="2325226"/>
            <a:ext cx="6986" cy="25328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8581292" y="3157414"/>
            <a:ext cx="6986" cy="25328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8595384" y="3921449"/>
            <a:ext cx="6986" cy="25328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8610463" y="4780825"/>
            <a:ext cx="6986" cy="25328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8591891" y="5634382"/>
            <a:ext cx="6986" cy="25328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8617449" y="6494191"/>
            <a:ext cx="6986" cy="25328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8624435" y="7256437"/>
            <a:ext cx="6986" cy="25328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8584785" y="8379939"/>
            <a:ext cx="6986" cy="25328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8045199" y="8297237"/>
            <a:ext cx="586222" cy="400110"/>
          </a:xfrm>
          <a:prstGeom prst="rect">
            <a:avLst/>
          </a:prstGeom>
          <a:noFill/>
        </p:spPr>
        <p:txBody>
          <a:bodyPr wrap="square" rtlCol="0">
            <a:spAutoFit/>
          </a:bodyPr>
          <a:lstStyle/>
          <a:p>
            <a:r>
              <a:rPr lang="en-US" sz="2000" dirty="0"/>
              <a:t>Y</a:t>
            </a:r>
            <a:r>
              <a:rPr lang="en-US" sz="2000" dirty="0" smtClean="0"/>
              <a:t>es</a:t>
            </a:r>
            <a:endParaRPr lang="en-IN" sz="2000" dirty="0"/>
          </a:p>
        </p:txBody>
      </p:sp>
      <p:cxnSp>
        <p:nvCxnSpPr>
          <p:cNvPr id="45" name="Elbow Connector 44"/>
          <p:cNvCxnSpPr>
            <a:stCxn id="13" idx="1"/>
            <a:endCxn id="15" idx="4"/>
          </p:cNvCxnSpPr>
          <p:nvPr/>
        </p:nvCxnSpPr>
        <p:spPr>
          <a:xfrm rot="10800000">
            <a:off x="4406481" y="7354628"/>
            <a:ext cx="3441983" cy="589132"/>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Elbow Connector 46"/>
          <p:cNvCxnSpPr/>
          <p:nvPr/>
        </p:nvCxnSpPr>
        <p:spPr>
          <a:xfrm rot="5400000" flipH="1" flipV="1">
            <a:off x="4953014" y="5612151"/>
            <a:ext cx="695421" cy="178848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Elbow Connector 51"/>
          <p:cNvCxnSpPr>
            <a:stCxn id="14" idx="0"/>
          </p:cNvCxnSpPr>
          <p:nvPr/>
        </p:nvCxnSpPr>
        <p:spPr>
          <a:xfrm rot="16200000" flipV="1">
            <a:off x="11803326" y="5319365"/>
            <a:ext cx="332352" cy="2010988"/>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Rectangle 55"/>
          <p:cNvSpPr/>
          <p:nvPr/>
        </p:nvSpPr>
        <p:spPr>
          <a:xfrm>
            <a:off x="3768164" y="7383080"/>
            <a:ext cx="689612" cy="707886"/>
          </a:xfrm>
          <a:prstGeom prst="rect">
            <a:avLst/>
          </a:prstGeom>
        </p:spPr>
        <p:txBody>
          <a:bodyPr wrap="none">
            <a:spAutoFit/>
          </a:bodyPr>
          <a:lstStyle/>
          <a:p>
            <a:r>
              <a:rPr lang="en-US" sz="2000" dirty="0" smtClean="0"/>
              <a:t>No</a:t>
            </a:r>
          </a:p>
          <a:p>
            <a:r>
              <a:rPr lang="en-US" sz="2000" dirty="0" err="1" smtClean="0"/>
              <a:t>i</a:t>
            </a:r>
            <a:r>
              <a:rPr lang="en-US" sz="2000" dirty="0" smtClean="0"/>
              <a:t>=i+1</a:t>
            </a:r>
            <a:endParaRPr lang="en-IN" sz="2000" dirty="0"/>
          </a:p>
        </p:txBody>
      </p:sp>
      <p:sp>
        <p:nvSpPr>
          <p:cNvPr id="58" name="Rectangle 57"/>
          <p:cNvSpPr/>
          <p:nvPr/>
        </p:nvSpPr>
        <p:spPr>
          <a:xfrm>
            <a:off x="669983" y="651821"/>
            <a:ext cx="3978217" cy="584775"/>
          </a:xfrm>
          <a:prstGeom prst="rect">
            <a:avLst/>
          </a:prstGeom>
        </p:spPr>
        <p:txBody>
          <a:bodyPr wrap="square">
            <a:spAutoFit/>
          </a:bodyPr>
          <a:lstStyle/>
          <a:p>
            <a:r>
              <a:rPr lang="en-US" sz="3200" b="1" dirty="0" smtClean="0"/>
              <a:t>State Chart Diagram</a:t>
            </a:r>
            <a:endParaRPr lang="en-US" sz="3200" b="1" dirty="0"/>
          </a:p>
        </p:txBody>
      </p:sp>
    </p:spTree>
    <p:extLst>
      <p:ext uri="{BB962C8B-B14F-4D97-AF65-F5344CB8AC3E}">
        <p14:creationId xmlns:p14="http://schemas.microsoft.com/office/powerpoint/2010/main" val="418130581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0" y="1485900"/>
            <a:ext cx="11811000" cy="8083441"/>
          </a:xfrm>
          <a:prstGeom prst="rect">
            <a:avLst/>
          </a:prstGeom>
        </p:spPr>
      </p:pic>
      <p:sp>
        <p:nvSpPr>
          <p:cNvPr id="3" name="Rectangle 2"/>
          <p:cNvSpPr/>
          <p:nvPr/>
        </p:nvSpPr>
        <p:spPr>
          <a:xfrm>
            <a:off x="914400" y="800100"/>
            <a:ext cx="5181600" cy="584775"/>
          </a:xfrm>
          <a:prstGeom prst="rect">
            <a:avLst/>
          </a:prstGeom>
        </p:spPr>
        <p:txBody>
          <a:bodyPr wrap="square">
            <a:spAutoFit/>
          </a:bodyPr>
          <a:lstStyle/>
          <a:p>
            <a:r>
              <a:rPr lang="en-US" sz="3200" b="1" dirty="0" smtClean="0"/>
              <a:t>Deployment  Diagram</a:t>
            </a:r>
            <a:endParaRPr lang="en-US" sz="3200" b="1" dirty="0"/>
          </a:p>
        </p:txBody>
      </p:sp>
    </p:spTree>
    <p:extLst>
      <p:ext uri="{BB962C8B-B14F-4D97-AF65-F5344CB8AC3E}">
        <p14:creationId xmlns:p14="http://schemas.microsoft.com/office/powerpoint/2010/main" val="73468660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357560" y="-71820"/>
            <a:ext cx="7498440" cy="1273860"/>
            <a:chOff x="0" y="0"/>
            <a:chExt cx="9997920" cy="1698480"/>
          </a:xfrm>
        </p:grpSpPr>
        <p:sp>
          <p:nvSpPr>
            <p:cNvPr id="4" name="Freeform 4"/>
            <p:cNvSpPr/>
            <p:nvPr/>
          </p:nvSpPr>
          <p:spPr>
            <a:xfrm>
              <a:off x="0" y="0"/>
              <a:ext cx="9997920" cy="1698480"/>
            </a:xfrm>
            <a:custGeom>
              <a:avLst/>
              <a:gdLst/>
              <a:ahLst/>
              <a:cxnLst/>
              <a:rect l="l" t="t" r="r" b="b"/>
              <a:pathLst>
                <a:path w="9997920" h="1698480">
                  <a:moveTo>
                    <a:pt x="0" y="0"/>
                  </a:moveTo>
                  <a:lnTo>
                    <a:pt x="9997920" y="0"/>
                  </a:lnTo>
                  <a:lnTo>
                    <a:pt x="9997920" y="1698480"/>
                  </a:lnTo>
                  <a:lnTo>
                    <a:pt x="0" y="1698480"/>
                  </a:lnTo>
                  <a:close/>
                </a:path>
              </a:pathLst>
            </a:custGeom>
            <a:solidFill>
              <a:srgbClr val="000000">
                <a:alpha val="0"/>
              </a:srgbClr>
            </a:solidFill>
          </p:spPr>
        </p:sp>
        <p:sp>
          <p:nvSpPr>
            <p:cNvPr id="5" name="TextBox 5"/>
            <p:cNvSpPr txBox="1"/>
            <p:nvPr/>
          </p:nvSpPr>
          <p:spPr>
            <a:xfrm>
              <a:off x="0" y="-133350"/>
              <a:ext cx="9997920" cy="1831830"/>
            </a:xfrm>
            <a:prstGeom prst="rect">
              <a:avLst/>
            </a:prstGeom>
          </p:spPr>
          <p:txBody>
            <a:bodyPr lIns="0" tIns="0" rIns="0" bIns="0" rtlCol="0" anchor="ctr"/>
            <a:lstStyle/>
            <a:p>
              <a:pPr algn="ctr">
                <a:lnSpc>
                  <a:spcPts val="7559"/>
                </a:lnSpc>
              </a:pPr>
              <a:r>
                <a:rPr lang="en-US" sz="6300" b="1" spc="-1" dirty="0">
                  <a:solidFill>
                    <a:srgbClr val="000000"/>
                  </a:solidFill>
                  <a:latin typeface="Calibri (MS) Bold"/>
                  <a:ea typeface="Calibri (MS) Bold"/>
                  <a:cs typeface="Calibri (MS) Bold"/>
                  <a:sym typeface="Calibri (MS) Bold"/>
                </a:rPr>
                <a:t>Implementation </a:t>
              </a:r>
              <a:r>
                <a:rPr lang="en-US" sz="6300" b="1" spc="-1" dirty="0" smtClean="0">
                  <a:solidFill>
                    <a:srgbClr val="000000"/>
                  </a:solidFill>
                  <a:latin typeface="Calibri (MS) Bold"/>
                  <a:ea typeface="Calibri (MS) Bold"/>
                  <a:cs typeface="Calibri (MS) Bold"/>
                  <a:sym typeface="Calibri (MS) Bold"/>
                </a:rPr>
                <a:t> </a:t>
              </a:r>
              <a:endParaRPr lang="en-US" sz="6300" b="1" spc="-1" dirty="0">
                <a:solidFill>
                  <a:srgbClr val="000000"/>
                </a:solidFill>
                <a:latin typeface="Calibri (MS) Bold"/>
                <a:ea typeface="Calibri (MS) Bold"/>
                <a:cs typeface="Calibri (MS) Bold"/>
                <a:sym typeface="Calibri (MS) Bold"/>
              </a:endParaRPr>
            </a:p>
          </p:txBody>
        </p:sp>
      </p:grpSp>
      <p:sp>
        <p:nvSpPr>
          <p:cNvPr id="8" name="TextBox 8"/>
          <p:cNvSpPr txBox="1"/>
          <p:nvPr/>
        </p:nvSpPr>
        <p:spPr>
          <a:xfrm>
            <a:off x="724050" y="1225685"/>
            <a:ext cx="16839900" cy="840566"/>
          </a:xfrm>
          <a:prstGeom prst="rect">
            <a:avLst/>
          </a:prstGeom>
        </p:spPr>
        <p:txBody>
          <a:bodyPr lIns="0" tIns="0" rIns="0" bIns="0" rtlCol="0" anchor="t"/>
          <a:lstStyle/>
          <a:p>
            <a:pPr algn="ctr">
              <a:lnSpc>
                <a:spcPts val="4320"/>
              </a:lnSpc>
            </a:pPr>
            <a:r>
              <a:rPr lang="en-US" sz="3600" b="1" spc="-1" dirty="0">
                <a:solidFill>
                  <a:srgbClr val="000000"/>
                </a:solidFill>
                <a:latin typeface="Calibri (MS) Bold"/>
                <a:ea typeface="Calibri (MS) Bold"/>
                <a:cs typeface="Calibri (MS) Bold"/>
                <a:sym typeface="Calibri (MS) Bold"/>
              </a:rPr>
              <a:t>Model development </a:t>
            </a:r>
            <a:r>
              <a:rPr lang="en-US" sz="3600" spc="-1" dirty="0" smtClean="0">
                <a:solidFill>
                  <a:srgbClr val="000000"/>
                </a:solidFill>
                <a:latin typeface="Calibri (MS)"/>
                <a:ea typeface="Calibri (MS)"/>
                <a:cs typeface="Calibri (MS)"/>
                <a:sym typeface="Calibri (MS)"/>
              </a:rPr>
              <a:t>                                                       </a:t>
            </a:r>
            <a:r>
              <a:rPr lang="en-US" sz="3600" b="1" spc="-1" dirty="0">
                <a:solidFill>
                  <a:srgbClr val="000000"/>
                </a:solidFill>
                <a:latin typeface="Calibri (MS) Bold"/>
                <a:ea typeface="Calibri (MS) Bold"/>
                <a:cs typeface="Calibri (MS) Bold"/>
                <a:sym typeface="Calibri (MS) Bold"/>
              </a:rPr>
              <a:t>Libraries/Tools used  </a:t>
            </a:r>
            <a:r>
              <a:rPr lang="en-US" sz="3600" spc="-1" dirty="0" smtClean="0">
                <a:solidFill>
                  <a:srgbClr val="000000"/>
                </a:solidFill>
                <a:latin typeface="Calibri (MS)"/>
                <a:ea typeface="Calibri (MS)"/>
                <a:cs typeface="Calibri (MS)"/>
                <a:sym typeface="Calibri (MS)"/>
              </a:rPr>
              <a:t>                                             </a:t>
            </a:r>
            <a:endParaRPr lang="en-US" sz="3600" spc="-1" dirty="0">
              <a:solidFill>
                <a:srgbClr val="000000"/>
              </a:solidFill>
              <a:latin typeface="Calibri (MS)"/>
              <a:ea typeface="Calibri (MS)"/>
              <a:cs typeface="Calibri (MS)"/>
              <a:sym typeface="Calibri (MS)"/>
            </a:endParaRPr>
          </a:p>
        </p:txBody>
      </p:sp>
      <p:sp>
        <p:nvSpPr>
          <p:cNvPr id="9" name="Freeform 9"/>
          <p:cNvSpPr/>
          <p:nvPr/>
        </p:nvSpPr>
        <p:spPr>
          <a:xfrm>
            <a:off x="264060" y="2021760"/>
            <a:ext cx="9684900" cy="7069680"/>
          </a:xfrm>
          <a:custGeom>
            <a:avLst/>
            <a:gdLst/>
            <a:ahLst/>
            <a:cxnLst/>
            <a:rect l="l" t="t" r="r" b="b"/>
            <a:pathLst>
              <a:path w="9684900" h="7069680">
                <a:moveTo>
                  <a:pt x="0" y="0"/>
                </a:moveTo>
                <a:lnTo>
                  <a:pt x="9684900" y="0"/>
                </a:lnTo>
                <a:lnTo>
                  <a:pt x="9684900" y="7069680"/>
                </a:lnTo>
                <a:lnTo>
                  <a:pt x="0" y="7069680"/>
                </a:lnTo>
                <a:lnTo>
                  <a:pt x="0" y="0"/>
                </a:lnTo>
                <a:close/>
              </a:path>
            </a:pathLst>
          </a:custGeom>
          <a:blipFill>
            <a:blip r:embed="rId3"/>
            <a:stretch>
              <a:fillRect l="-3584" r="-3584"/>
            </a:stretch>
          </a:blipFill>
        </p:spPr>
      </p:sp>
      <p:sp>
        <p:nvSpPr>
          <p:cNvPr id="10" name="Freeform 10"/>
          <p:cNvSpPr/>
          <p:nvPr/>
        </p:nvSpPr>
        <p:spPr>
          <a:xfrm>
            <a:off x="10058400" y="2138071"/>
            <a:ext cx="7831620" cy="6119820"/>
          </a:xfrm>
          <a:custGeom>
            <a:avLst/>
            <a:gdLst/>
            <a:ahLst/>
            <a:cxnLst/>
            <a:rect l="l" t="t" r="r" b="b"/>
            <a:pathLst>
              <a:path w="7831620" h="6119820">
                <a:moveTo>
                  <a:pt x="0" y="0"/>
                </a:moveTo>
                <a:lnTo>
                  <a:pt x="7831620" y="0"/>
                </a:lnTo>
                <a:lnTo>
                  <a:pt x="7831620" y="6119820"/>
                </a:lnTo>
                <a:lnTo>
                  <a:pt x="0" y="6119820"/>
                </a:lnTo>
                <a:lnTo>
                  <a:pt x="0" y="0"/>
                </a:lnTo>
                <a:close/>
              </a:path>
            </a:pathLst>
          </a:custGeom>
          <a:blipFill>
            <a:blip r:embed="rId4"/>
            <a:stretch>
              <a:fillRect l="-59009" r="-59009"/>
            </a:stretch>
          </a:blipFill>
        </p:spPr>
      </p:sp>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683720" y="525960"/>
            <a:ext cx="16459200" cy="1714500"/>
            <a:chOff x="0" y="0"/>
            <a:chExt cx="21945600" cy="2286000"/>
          </a:xfrm>
        </p:grpSpPr>
        <p:sp>
          <p:nvSpPr>
            <p:cNvPr id="4" name="Freeform 4"/>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solidFill>
              <a:srgbClr val="000000">
                <a:alpha val="0"/>
              </a:srgbClr>
            </a:solidFill>
          </p:spPr>
        </p:sp>
        <p:sp>
          <p:nvSpPr>
            <p:cNvPr id="5" name="TextBox 5"/>
            <p:cNvSpPr txBox="1"/>
            <p:nvPr/>
          </p:nvSpPr>
          <p:spPr>
            <a:xfrm>
              <a:off x="0" y="-133350"/>
              <a:ext cx="21945600" cy="2419350"/>
            </a:xfrm>
            <a:prstGeom prst="rect">
              <a:avLst/>
            </a:prstGeom>
          </p:spPr>
          <p:txBody>
            <a:bodyPr lIns="0" tIns="0" rIns="0" bIns="0" rtlCol="0" anchor="ctr"/>
            <a:lstStyle/>
            <a:p>
              <a:pPr algn="l">
                <a:lnSpc>
                  <a:spcPts val="7559"/>
                </a:lnSpc>
              </a:pPr>
              <a:r>
                <a:rPr lang="en-US" sz="6300" b="1" spc="-1">
                  <a:solidFill>
                    <a:srgbClr val="000000"/>
                  </a:solidFill>
                  <a:latin typeface="Calibri (MS) Bold"/>
                  <a:ea typeface="Calibri (MS) Bold"/>
                  <a:cs typeface="Calibri (MS) Bold"/>
                  <a:sym typeface="Calibri (MS) Bold"/>
                </a:rPr>
                <a:t> Mammogram images</a:t>
              </a:r>
            </a:p>
          </p:txBody>
        </p:sp>
      </p:grpSp>
      <p:sp>
        <p:nvSpPr>
          <p:cNvPr id="6" name="Freeform 6"/>
          <p:cNvSpPr/>
          <p:nvPr/>
        </p:nvSpPr>
        <p:spPr>
          <a:xfrm>
            <a:off x="1683720" y="2241000"/>
            <a:ext cx="6788880" cy="6788880"/>
          </a:xfrm>
          <a:custGeom>
            <a:avLst/>
            <a:gdLst/>
            <a:ahLst/>
            <a:cxnLst/>
            <a:rect l="l" t="t" r="r" b="b"/>
            <a:pathLst>
              <a:path w="6788880" h="6788880">
                <a:moveTo>
                  <a:pt x="0" y="0"/>
                </a:moveTo>
                <a:lnTo>
                  <a:pt x="6788880" y="0"/>
                </a:lnTo>
                <a:lnTo>
                  <a:pt x="6788880" y="6788880"/>
                </a:lnTo>
                <a:lnTo>
                  <a:pt x="0" y="6788880"/>
                </a:lnTo>
                <a:lnTo>
                  <a:pt x="0" y="0"/>
                </a:lnTo>
                <a:close/>
              </a:path>
            </a:pathLst>
          </a:custGeom>
          <a:blipFill>
            <a:blip r:embed="rId3"/>
            <a:stretch>
              <a:fillRect/>
            </a:stretch>
          </a:blipFill>
        </p:spPr>
      </p:sp>
      <p:sp>
        <p:nvSpPr>
          <p:cNvPr id="7" name="Freeform 7"/>
          <p:cNvSpPr/>
          <p:nvPr/>
        </p:nvSpPr>
        <p:spPr>
          <a:xfrm>
            <a:off x="9212940" y="2241000"/>
            <a:ext cx="6788880" cy="6788880"/>
          </a:xfrm>
          <a:custGeom>
            <a:avLst/>
            <a:gdLst/>
            <a:ahLst/>
            <a:cxnLst/>
            <a:rect l="l" t="t" r="r" b="b"/>
            <a:pathLst>
              <a:path w="6788880" h="6788880">
                <a:moveTo>
                  <a:pt x="0" y="0"/>
                </a:moveTo>
                <a:lnTo>
                  <a:pt x="6788880" y="0"/>
                </a:lnTo>
                <a:lnTo>
                  <a:pt x="6788880" y="6788880"/>
                </a:lnTo>
                <a:lnTo>
                  <a:pt x="0" y="6788880"/>
                </a:lnTo>
                <a:lnTo>
                  <a:pt x="0" y="0"/>
                </a:lnTo>
                <a:close/>
              </a:path>
            </a:pathLst>
          </a:custGeom>
          <a:blipFill>
            <a:blip r:embed="rId4"/>
            <a:stretch>
              <a:fillRect/>
            </a:stretch>
          </a:blipFill>
        </p:spPr>
      </p:sp>
    </p:spTree>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1371600" y="635580"/>
            <a:ext cx="15680520" cy="9015840"/>
          </a:xfrm>
          <a:custGeom>
            <a:avLst/>
            <a:gdLst/>
            <a:ahLst/>
            <a:cxnLst/>
            <a:rect l="l" t="t" r="r" b="b"/>
            <a:pathLst>
              <a:path w="15680520" h="9015840">
                <a:moveTo>
                  <a:pt x="0" y="0"/>
                </a:moveTo>
                <a:lnTo>
                  <a:pt x="15680520" y="0"/>
                </a:lnTo>
                <a:lnTo>
                  <a:pt x="15680520" y="9015840"/>
                </a:lnTo>
                <a:lnTo>
                  <a:pt x="0" y="9015840"/>
                </a:lnTo>
                <a:lnTo>
                  <a:pt x="0" y="0"/>
                </a:lnTo>
                <a:close/>
              </a:path>
            </a:pathLst>
          </a:custGeom>
          <a:blipFill>
            <a:blip r:embed="rId3"/>
            <a:stretch>
              <a:fillRect l="-8321" r="-8321"/>
            </a:stretch>
          </a:blipFill>
        </p:spPr>
      </p:sp>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321380" y="685260"/>
            <a:ext cx="11851920" cy="1714500"/>
            <a:chOff x="0" y="0"/>
            <a:chExt cx="15802560" cy="2286000"/>
          </a:xfrm>
        </p:grpSpPr>
        <p:sp>
          <p:nvSpPr>
            <p:cNvPr id="4" name="Freeform 4"/>
            <p:cNvSpPr/>
            <p:nvPr/>
          </p:nvSpPr>
          <p:spPr>
            <a:xfrm>
              <a:off x="0" y="0"/>
              <a:ext cx="15802559" cy="2286000"/>
            </a:xfrm>
            <a:custGeom>
              <a:avLst/>
              <a:gdLst/>
              <a:ahLst/>
              <a:cxnLst/>
              <a:rect l="l" t="t" r="r" b="b"/>
              <a:pathLst>
                <a:path w="15802559" h="2286000">
                  <a:moveTo>
                    <a:pt x="0" y="0"/>
                  </a:moveTo>
                  <a:lnTo>
                    <a:pt x="15802559" y="0"/>
                  </a:lnTo>
                  <a:lnTo>
                    <a:pt x="15802559" y="2286000"/>
                  </a:lnTo>
                  <a:lnTo>
                    <a:pt x="0" y="2286000"/>
                  </a:lnTo>
                  <a:close/>
                </a:path>
              </a:pathLst>
            </a:custGeom>
            <a:solidFill>
              <a:srgbClr val="000000">
                <a:alpha val="0"/>
              </a:srgbClr>
            </a:solidFill>
          </p:spPr>
        </p:sp>
        <p:sp>
          <p:nvSpPr>
            <p:cNvPr id="5" name="TextBox 5"/>
            <p:cNvSpPr txBox="1"/>
            <p:nvPr/>
          </p:nvSpPr>
          <p:spPr>
            <a:xfrm>
              <a:off x="0" y="-133350"/>
              <a:ext cx="15802560" cy="2419350"/>
            </a:xfrm>
            <a:prstGeom prst="rect">
              <a:avLst/>
            </a:prstGeom>
          </p:spPr>
          <p:txBody>
            <a:bodyPr lIns="0" tIns="0" rIns="0" bIns="0" rtlCol="0" anchor="ctr"/>
            <a:lstStyle/>
            <a:p>
              <a:pPr algn="l">
                <a:lnSpc>
                  <a:spcPts val="7559"/>
                </a:lnSpc>
              </a:pPr>
              <a:r>
                <a:rPr lang="en-US" sz="6300" b="1" spc="-1">
                  <a:solidFill>
                    <a:srgbClr val="000000"/>
                  </a:solidFill>
                  <a:latin typeface="Calibri (MS) Bold"/>
                  <a:ea typeface="Calibri (MS) Bold"/>
                  <a:cs typeface="Calibri (MS) Bold"/>
                  <a:sym typeface="Calibri (MS) Bold"/>
                </a:rPr>
                <a:t>Model Architecture</a:t>
              </a:r>
            </a:p>
          </p:txBody>
        </p:sp>
      </p:grpSp>
      <p:grpSp>
        <p:nvGrpSpPr>
          <p:cNvPr id="6" name="Group 6"/>
          <p:cNvGrpSpPr/>
          <p:nvPr/>
        </p:nvGrpSpPr>
        <p:grpSpPr>
          <a:xfrm>
            <a:off x="914220" y="2400300"/>
            <a:ext cx="16459200" cy="6788880"/>
            <a:chOff x="0" y="0"/>
            <a:chExt cx="21945600" cy="9051840"/>
          </a:xfrm>
        </p:grpSpPr>
        <p:sp>
          <p:nvSpPr>
            <p:cNvPr id="7" name="Freeform 7"/>
            <p:cNvSpPr/>
            <p:nvPr/>
          </p:nvSpPr>
          <p:spPr>
            <a:xfrm>
              <a:off x="0" y="0"/>
              <a:ext cx="21945600" cy="9051840"/>
            </a:xfrm>
            <a:custGeom>
              <a:avLst/>
              <a:gdLst/>
              <a:ahLst/>
              <a:cxnLst/>
              <a:rect l="l" t="t" r="r" b="b"/>
              <a:pathLst>
                <a:path w="21945600" h="9051840">
                  <a:moveTo>
                    <a:pt x="0" y="0"/>
                  </a:moveTo>
                  <a:lnTo>
                    <a:pt x="21945600" y="0"/>
                  </a:lnTo>
                  <a:lnTo>
                    <a:pt x="21945600" y="9051840"/>
                  </a:lnTo>
                  <a:lnTo>
                    <a:pt x="0" y="9051840"/>
                  </a:lnTo>
                  <a:close/>
                </a:path>
              </a:pathLst>
            </a:custGeom>
            <a:solidFill>
              <a:srgbClr val="000000">
                <a:alpha val="0"/>
              </a:srgbClr>
            </a:solidFill>
          </p:spPr>
        </p:sp>
        <p:sp>
          <p:nvSpPr>
            <p:cNvPr id="8" name="TextBox 8"/>
            <p:cNvSpPr txBox="1"/>
            <p:nvPr/>
          </p:nvSpPr>
          <p:spPr>
            <a:xfrm>
              <a:off x="0" y="-66675"/>
              <a:ext cx="21945600" cy="9118515"/>
            </a:xfrm>
            <a:prstGeom prst="rect">
              <a:avLst/>
            </a:prstGeom>
          </p:spPr>
          <p:txBody>
            <a:bodyPr lIns="0" tIns="0" rIns="0" bIns="0" rtlCol="0" anchor="t"/>
            <a:lstStyle/>
            <a:p>
              <a:pPr marL="675270" lvl="1" indent="-337635" algn="l">
                <a:lnSpc>
                  <a:spcPts val="4320"/>
                </a:lnSpc>
                <a:buFont typeface="Arial"/>
                <a:buChar char="•"/>
              </a:pPr>
              <a:r>
                <a:rPr lang="en-US" sz="3600" spc="-1">
                  <a:solidFill>
                    <a:srgbClr val="000000"/>
                  </a:solidFill>
                  <a:latin typeface="Calibri (MS)"/>
                  <a:ea typeface="Calibri (MS)"/>
                  <a:cs typeface="Calibri (MS)"/>
                  <a:sym typeface="Calibri (MS)"/>
                </a:rPr>
                <a:t>Input: 224×224 RGB images.</a:t>
              </a:r>
            </a:p>
            <a:p>
              <a:pPr marL="675270" lvl="1" indent="-337635" algn="l">
                <a:lnSpc>
                  <a:spcPts val="4320"/>
                </a:lnSpc>
                <a:buFont typeface="Arial"/>
                <a:buChar char="•"/>
              </a:pPr>
              <a:r>
                <a:rPr lang="en-US" sz="3600" spc="-1">
                  <a:solidFill>
                    <a:srgbClr val="000000"/>
                  </a:solidFill>
                  <a:latin typeface="Calibri (MS)"/>
                  <a:ea typeface="Calibri (MS)"/>
                  <a:cs typeface="Calibri (MS)"/>
                  <a:sym typeface="Calibri (MS)"/>
                </a:rPr>
                <a:t>3 Convolutional Layers (32, 64, 128 filters).</a:t>
              </a:r>
            </a:p>
            <a:p>
              <a:pPr marL="675270" lvl="1" indent="-337635" algn="l">
                <a:lnSpc>
                  <a:spcPts val="4320"/>
                </a:lnSpc>
                <a:buFont typeface="Arial"/>
                <a:buChar char="•"/>
              </a:pPr>
              <a:r>
                <a:rPr lang="en-US" sz="3600" spc="-1">
                  <a:solidFill>
                    <a:srgbClr val="000000"/>
                  </a:solidFill>
                  <a:latin typeface="Calibri (MS)"/>
                  <a:ea typeface="Calibri (MS)"/>
                  <a:cs typeface="Calibri (MS)"/>
                  <a:sym typeface="Calibri (MS)"/>
                </a:rPr>
                <a:t>Max Pooling layers to reduce dimensions.</a:t>
              </a:r>
            </a:p>
            <a:p>
              <a:pPr marL="675270" lvl="1" indent="-337635" algn="l">
                <a:lnSpc>
                  <a:spcPts val="4320"/>
                </a:lnSpc>
                <a:buFont typeface="Arial"/>
                <a:buChar char="•"/>
              </a:pPr>
              <a:r>
                <a:rPr lang="en-US" sz="3600" spc="-1">
                  <a:solidFill>
                    <a:srgbClr val="000000"/>
                  </a:solidFill>
                  <a:latin typeface="Calibri (MS)"/>
                  <a:ea typeface="Calibri (MS)"/>
                  <a:cs typeface="Calibri (MS)"/>
                  <a:sym typeface="Calibri (MS)"/>
                </a:rPr>
                <a:t>Fully connected layer with 128 neurons.</a:t>
              </a:r>
            </a:p>
            <a:p>
              <a:pPr marL="675270" lvl="1" indent="-337635" algn="l">
                <a:lnSpc>
                  <a:spcPts val="4320"/>
                </a:lnSpc>
                <a:buFont typeface="Arial"/>
                <a:buChar char="•"/>
              </a:pPr>
              <a:r>
                <a:rPr lang="en-US" sz="3600" spc="-1">
                  <a:solidFill>
                    <a:srgbClr val="000000"/>
                  </a:solidFill>
                  <a:latin typeface="Calibri (MS)"/>
                  <a:ea typeface="Calibri (MS)"/>
                  <a:cs typeface="Calibri (MS)"/>
                  <a:sym typeface="Calibri (MS)"/>
                </a:rPr>
                <a:t>Dropout (50%) for regularization.</a:t>
              </a:r>
            </a:p>
            <a:p>
              <a:pPr marL="675270" lvl="1" indent="-337635" algn="l">
                <a:lnSpc>
                  <a:spcPts val="4320"/>
                </a:lnSpc>
                <a:buFont typeface="Arial"/>
                <a:buChar char="•"/>
              </a:pPr>
              <a:r>
                <a:rPr lang="en-US" sz="3600" spc="-1">
                  <a:solidFill>
                    <a:srgbClr val="000000"/>
                  </a:solidFill>
                  <a:latin typeface="Calibri (MS)"/>
                  <a:ea typeface="Calibri (MS)"/>
                  <a:cs typeface="Calibri (MS)"/>
                  <a:sym typeface="Calibri (MS)"/>
                </a:rPr>
                <a:t>Sigmoid activation for binary classification.</a:t>
              </a:r>
            </a:p>
          </p:txBody>
        </p:sp>
      </p:grpSp>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914300" y="521640"/>
            <a:ext cx="11692080" cy="1095120"/>
            <a:chOff x="0" y="0"/>
            <a:chExt cx="15589440" cy="1460160"/>
          </a:xfrm>
        </p:grpSpPr>
        <p:sp>
          <p:nvSpPr>
            <p:cNvPr id="4" name="Freeform 4"/>
            <p:cNvSpPr/>
            <p:nvPr/>
          </p:nvSpPr>
          <p:spPr>
            <a:xfrm>
              <a:off x="0" y="0"/>
              <a:ext cx="15589441" cy="1460160"/>
            </a:xfrm>
            <a:custGeom>
              <a:avLst/>
              <a:gdLst/>
              <a:ahLst/>
              <a:cxnLst/>
              <a:rect l="l" t="t" r="r" b="b"/>
              <a:pathLst>
                <a:path w="15589441" h="1460160">
                  <a:moveTo>
                    <a:pt x="0" y="0"/>
                  </a:moveTo>
                  <a:lnTo>
                    <a:pt x="15589441" y="0"/>
                  </a:lnTo>
                  <a:lnTo>
                    <a:pt x="15589441" y="1460160"/>
                  </a:lnTo>
                  <a:lnTo>
                    <a:pt x="0" y="1460160"/>
                  </a:lnTo>
                  <a:close/>
                </a:path>
              </a:pathLst>
            </a:custGeom>
            <a:solidFill>
              <a:srgbClr val="000000">
                <a:alpha val="0"/>
              </a:srgbClr>
            </a:solidFill>
          </p:spPr>
        </p:sp>
        <p:sp>
          <p:nvSpPr>
            <p:cNvPr id="5" name="TextBox 5"/>
            <p:cNvSpPr txBox="1"/>
            <p:nvPr/>
          </p:nvSpPr>
          <p:spPr>
            <a:xfrm>
              <a:off x="0" y="-123825"/>
              <a:ext cx="15589440" cy="1583985"/>
            </a:xfrm>
            <a:prstGeom prst="rect">
              <a:avLst/>
            </a:prstGeom>
          </p:spPr>
          <p:txBody>
            <a:bodyPr lIns="0" tIns="0" rIns="0" bIns="0" rtlCol="0" anchor="ctr"/>
            <a:lstStyle/>
            <a:p>
              <a:pPr algn="l">
                <a:lnSpc>
                  <a:spcPts val="7200"/>
                </a:lnSpc>
              </a:pPr>
              <a:r>
                <a:rPr lang="en-US" sz="6000" b="1" spc="-1">
                  <a:solidFill>
                    <a:srgbClr val="000000"/>
                  </a:solidFill>
                  <a:latin typeface="Arial Bold"/>
                  <a:ea typeface="Arial Bold"/>
                  <a:cs typeface="Arial Bold"/>
                  <a:sym typeface="Arial Bold"/>
                </a:rPr>
                <a:t>Dataset Challenges </a:t>
              </a:r>
            </a:p>
          </p:txBody>
        </p:sp>
      </p:grpSp>
      <p:grpSp>
        <p:nvGrpSpPr>
          <p:cNvPr id="6" name="Group 6"/>
          <p:cNvGrpSpPr/>
          <p:nvPr/>
        </p:nvGrpSpPr>
        <p:grpSpPr>
          <a:xfrm>
            <a:off x="1564380" y="1616220"/>
            <a:ext cx="16459200" cy="8922420"/>
            <a:chOff x="0" y="0"/>
            <a:chExt cx="21945600" cy="11896560"/>
          </a:xfrm>
        </p:grpSpPr>
        <p:sp>
          <p:nvSpPr>
            <p:cNvPr id="7" name="Freeform 7"/>
            <p:cNvSpPr/>
            <p:nvPr/>
          </p:nvSpPr>
          <p:spPr>
            <a:xfrm>
              <a:off x="0" y="0"/>
              <a:ext cx="21945600" cy="11896560"/>
            </a:xfrm>
            <a:custGeom>
              <a:avLst/>
              <a:gdLst/>
              <a:ahLst/>
              <a:cxnLst/>
              <a:rect l="l" t="t" r="r" b="b"/>
              <a:pathLst>
                <a:path w="21945600" h="11896560">
                  <a:moveTo>
                    <a:pt x="0" y="0"/>
                  </a:moveTo>
                  <a:lnTo>
                    <a:pt x="21945600" y="0"/>
                  </a:lnTo>
                  <a:lnTo>
                    <a:pt x="21945600" y="11896560"/>
                  </a:lnTo>
                  <a:lnTo>
                    <a:pt x="0" y="11896560"/>
                  </a:lnTo>
                  <a:close/>
                </a:path>
              </a:pathLst>
            </a:custGeom>
            <a:solidFill>
              <a:srgbClr val="000000">
                <a:alpha val="0"/>
              </a:srgbClr>
            </a:solidFill>
          </p:spPr>
        </p:sp>
        <p:sp>
          <p:nvSpPr>
            <p:cNvPr id="8" name="TextBox 8"/>
            <p:cNvSpPr txBox="1"/>
            <p:nvPr/>
          </p:nvSpPr>
          <p:spPr>
            <a:xfrm>
              <a:off x="0" y="-66675"/>
              <a:ext cx="21945600" cy="11963235"/>
            </a:xfrm>
            <a:prstGeom prst="rect">
              <a:avLst/>
            </a:prstGeom>
          </p:spPr>
          <p:txBody>
            <a:bodyPr lIns="0" tIns="0" rIns="0" bIns="0" rtlCol="0" anchor="t"/>
            <a:lstStyle/>
            <a:p>
              <a:pPr algn="l">
                <a:lnSpc>
                  <a:spcPts val="4320"/>
                </a:lnSpc>
              </a:pPr>
              <a:r>
                <a:rPr lang="en-US" sz="3600" spc="-1">
                  <a:solidFill>
                    <a:srgbClr val="000000"/>
                  </a:solidFill>
                  <a:latin typeface="Calibri (MS)"/>
                  <a:ea typeface="Calibri (MS)"/>
                  <a:cs typeface="Calibri (MS)"/>
                  <a:sym typeface="Calibri (MS)"/>
                </a:rPr>
                <a:t>•     </a:t>
              </a:r>
              <a:r>
                <a:rPr lang="en-US" sz="3600" b="1" spc="-1">
                  <a:solidFill>
                    <a:srgbClr val="000000"/>
                  </a:solidFill>
                  <a:latin typeface="Calibri (MS) Bold"/>
                  <a:ea typeface="Calibri (MS) Bold"/>
                  <a:cs typeface="Calibri (MS) Bold"/>
                  <a:sym typeface="Calibri (MS) Bold"/>
                </a:rPr>
                <a:t>Oversampling:</a:t>
              </a:r>
              <a:r>
                <a:rPr lang="en-US" sz="3600" spc="-1">
                  <a:solidFill>
                    <a:srgbClr val="000000"/>
                  </a:solidFill>
                  <a:latin typeface="Calibri (MS)"/>
                  <a:ea typeface="Calibri (MS)"/>
                  <a:cs typeface="Calibri (MS)"/>
                  <a:sym typeface="Calibri (MS)"/>
                </a:rPr>
                <a:t> Created duplicates of cancerous images.</a:t>
              </a:r>
            </a:p>
            <a:p>
              <a:pPr algn="l">
                <a:lnSpc>
                  <a:spcPts val="4320"/>
                </a:lnSpc>
              </a:pPr>
              <a:r>
                <a:rPr lang="en-US" sz="3600" spc="-1">
                  <a:solidFill>
                    <a:srgbClr val="000000"/>
                  </a:solidFill>
                  <a:latin typeface="Calibri (MS)"/>
                  <a:ea typeface="Calibri (MS)"/>
                  <a:cs typeface="Calibri (MS)"/>
                  <a:sym typeface="Calibri (MS)"/>
                </a:rPr>
                <a:t>•     </a:t>
              </a:r>
              <a:r>
                <a:rPr lang="en-US" sz="3600" b="1" spc="-1">
                  <a:solidFill>
                    <a:srgbClr val="000000"/>
                  </a:solidFill>
                  <a:latin typeface="Calibri (MS) Bold"/>
                  <a:ea typeface="Calibri (MS) Bold"/>
                  <a:cs typeface="Calibri (MS) Bold"/>
                  <a:sym typeface="Calibri (MS) Bold"/>
                </a:rPr>
                <a:t>Data Augmentation</a:t>
              </a:r>
              <a:r>
                <a:rPr lang="en-US" sz="3600" spc="-1">
                  <a:solidFill>
                    <a:srgbClr val="000000"/>
                  </a:solidFill>
                  <a:latin typeface="Calibri (MS)"/>
                  <a:ea typeface="Calibri (MS)"/>
                  <a:cs typeface="Calibri (MS)"/>
                  <a:sym typeface="Calibri (MS)"/>
                </a:rPr>
                <a:t>: Applied transformations like flipping, rotation, zooming.</a:t>
              </a:r>
            </a:p>
            <a:p>
              <a:pPr algn="l">
                <a:lnSpc>
                  <a:spcPts val="4320"/>
                </a:lnSpc>
              </a:pPr>
              <a:r>
                <a:rPr lang="en-US" sz="3600" spc="-1">
                  <a:solidFill>
                    <a:srgbClr val="000000"/>
                  </a:solidFill>
                  <a:latin typeface="Calibri (MS)"/>
                  <a:ea typeface="Calibri (MS)"/>
                  <a:cs typeface="Calibri (MS)"/>
                  <a:sym typeface="Calibri (MS)"/>
                </a:rPr>
                <a:t>•     </a:t>
              </a:r>
              <a:r>
                <a:rPr lang="en-US" sz="3600" b="1" spc="-1">
                  <a:solidFill>
                    <a:srgbClr val="000000"/>
                  </a:solidFill>
                  <a:latin typeface="Calibri (MS) Bold"/>
                  <a:ea typeface="Calibri (MS) Bold"/>
                  <a:cs typeface="Calibri (MS) Bold"/>
                  <a:sym typeface="Calibri (MS) Bold"/>
                </a:rPr>
                <a:t>Class Weights</a:t>
              </a:r>
              <a:r>
                <a:rPr lang="en-US" sz="3600" spc="-1">
                  <a:solidFill>
                    <a:srgbClr val="000000"/>
                  </a:solidFill>
                  <a:latin typeface="Calibri (MS)"/>
                  <a:ea typeface="Calibri (MS)"/>
                  <a:cs typeface="Calibri (MS)"/>
                  <a:sym typeface="Calibri (MS)"/>
                </a:rPr>
                <a:t>: Assigned higher weight to cancerous images.</a:t>
              </a:r>
            </a:p>
            <a:p>
              <a:pPr algn="l">
                <a:lnSpc>
                  <a:spcPts val="4320"/>
                </a:lnSpc>
              </a:pPr>
              <a:r>
                <a:rPr lang="en-US" sz="3600" b="1" spc="-1">
                  <a:solidFill>
                    <a:srgbClr val="000000"/>
                  </a:solidFill>
                  <a:latin typeface="Calibri (MS) Bold"/>
                  <a:ea typeface="Calibri (MS) Bold"/>
                  <a:cs typeface="Calibri (MS) Bold"/>
                  <a:sym typeface="Calibri (MS) Bold"/>
                </a:rPr>
                <a:t>Data Pre-processing &amp; Augmentation:</a:t>
              </a:r>
            </a:p>
            <a:p>
              <a:pPr marL="673110" lvl="1" indent="-336555" algn="l">
                <a:lnSpc>
                  <a:spcPts val="4320"/>
                </a:lnSpc>
                <a:buFont typeface="Arial"/>
                <a:buChar char="•"/>
              </a:pPr>
              <a:r>
                <a:rPr lang="en-US" sz="3600" spc="-1">
                  <a:solidFill>
                    <a:srgbClr val="000000"/>
                  </a:solidFill>
                  <a:latin typeface="Calibri (MS)"/>
                  <a:ea typeface="Calibri (MS)"/>
                  <a:cs typeface="Calibri (MS)"/>
                  <a:sym typeface="Calibri (MS)"/>
                </a:rPr>
                <a:t>Resized images to 224×224.</a:t>
              </a:r>
            </a:p>
            <a:p>
              <a:pPr marL="673110" lvl="1" indent="-336555" algn="l">
                <a:lnSpc>
                  <a:spcPts val="4320"/>
                </a:lnSpc>
                <a:buFont typeface="Arial"/>
                <a:buChar char="•"/>
              </a:pPr>
              <a:r>
                <a:rPr lang="en-US" sz="3600" spc="-1">
                  <a:solidFill>
                    <a:srgbClr val="000000"/>
                  </a:solidFill>
                  <a:latin typeface="Calibri (MS)"/>
                  <a:ea typeface="Calibri (MS)"/>
                  <a:cs typeface="Calibri (MS)"/>
                  <a:sym typeface="Calibri (MS)"/>
                </a:rPr>
                <a:t>Applied augmentation techniques:</a:t>
              </a:r>
            </a:p>
            <a:p>
              <a:pPr marL="673110" lvl="1" indent="-336555" algn="l">
                <a:lnSpc>
                  <a:spcPts val="4320"/>
                </a:lnSpc>
              </a:pPr>
              <a:r>
                <a:rPr lang="en-US" sz="3600" spc="-1">
                  <a:solidFill>
                    <a:srgbClr val="000000"/>
                  </a:solidFill>
                  <a:latin typeface="Calibri (MS)"/>
                  <a:ea typeface="Calibri (MS)"/>
                  <a:cs typeface="Calibri (MS)"/>
                  <a:sym typeface="Calibri (MS)"/>
                </a:rPr>
                <a:t>	  - Rotation, Flipping, Zooming</a:t>
              </a:r>
            </a:p>
            <a:p>
              <a:pPr marL="673110" lvl="1" indent="-336555" algn="l">
                <a:lnSpc>
                  <a:spcPts val="4320"/>
                </a:lnSpc>
                <a:buFont typeface="Arial"/>
                <a:buChar char="•"/>
              </a:pPr>
              <a:r>
                <a:rPr lang="en-US" sz="3600" spc="-1">
                  <a:solidFill>
                    <a:srgbClr val="000000"/>
                  </a:solidFill>
                  <a:latin typeface="Calibri (MS)"/>
                  <a:ea typeface="Calibri (MS)"/>
                  <a:cs typeface="Calibri (MS)"/>
                  <a:sym typeface="Calibri (MS)"/>
                </a:rPr>
                <a:t>Balanced the dataset using oversampling.</a:t>
              </a:r>
            </a:p>
            <a:p>
              <a:pPr marL="673110" lvl="1" indent="-336555" algn="l">
                <a:lnSpc>
                  <a:spcPts val="4320"/>
                </a:lnSpc>
              </a:pPr>
              <a:r>
                <a:rPr lang="en-US" sz="3600" b="1" spc="-1">
                  <a:solidFill>
                    <a:srgbClr val="000000"/>
                  </a:solidFill>
                  <a:latin typeface="Calibri (MS) Bold"/>
                  <a:ea typeface="Calibri (MS) Bold"/>
                  <a:cs typeface="Calibri (MS) Bold"/>
                  <a:sym typeface="Calibri (MS) Bold"/>
                </a:rPr>
                <a:t>Model Training &amp; Performance:</a:t>
              </a:r>
            </a:p>
            <a:p>
              <a:pPr marL="673110" lvl="1" indent="-336555" algn="l">
                <a:lnSpc>
                  <a:spcPts val="4320"/>
                </a:lnSpc>
                <a:buFont typeface="Arial"/>
                <a:buChar char="•"/>
              </a:pPr>
              <a:r>
                <a:rPr lang="en-US" sz="3600" spc="-1">
                  <a:solidFill>
                    <a:srgbClr val="000000"/>
                  </a:solidFill>
                  <a:latin typeface="Calibri (MS)"/>
                  <a:ea typeface="Calibri (MS)"/>
                  <a:cs typeface="Calibri (MS)"/>
                  <a:sym typeface="Calibri (MS)"/>
                </a:rPr>
                <a:t>Used binary cross-entropy loss &amp; Adam optimizer.</a:t>
              </a:r>
            </a:p>
            <a:p>
              <a:pPr marL="673110" lvl="1" indent="-336555" algn="l">
                <a:lnSpc>
                  <a:spcPts val="4320"/>
                </a:lnSpc>
                <a:buFont typeface="Arial"/>
                <a:buChar char="•"/>
              </a:pPr>
              <a:r>
                <a:rPr lang="en-US" sz="3600" spc="-1">
                  <a:solidFill>
                    <a:srgbClr val="000000"/>
                  </a:solidFill>
                  <a:latin typeface="Calibri (MS)"/>
                  <a:ea typeface="Calibri (MS)"/>
                  <a:cs typeface="Calibri (MS)"/>
                  <a:sym typeface="Calibri (MS)"/>
                </a:rPr>
                <a:t>Achieved 75% accuracy after balancing classes.</a:t>
              </a:r>
            </a:p>
            <a:p>
              <a:pPr marL="673110" lvl="1" indent="-336555" algn="l">
                <a:lnSpc>
                  <a:spcPts val="4320"/>
                </a:lnSpc>
                <a:buFont typeface="Arial"/>
                <a:buChar char="•"/>
              </a:pPr>
              <a:r>
                <a:rPr lang="en-US" sz="3600" spc="-1">
                  <a:solidFill>
                    <a:srgbClr val="000000"/>
                  </a:solidFill>
                  <a:latin typeface="Calibri (MS)"/>
                  <a:ea typeface="Calibri (MS)"/>
                  <a:cs typeface="Calibri (MS)"/>
                  <a:sym typeface="Calibri (MS)"/>
                </a:rPr>
                <a:t>Reduced false positives using class weighting.</a:t>
              </a:r>
            </a:p>
            <a:p>
              <a:pPr marL="673110" lvl="1" indent="-336555" algn="l">
                <a:lnSpc>
                  <a:spcPts val="4320"/>
                </a:lnSpc>
              </a:pPr>
              <a:endParaRPr lang="en-US" sz="3600" spc="-1">
                <a:solidFill>
                  <a:srgbClr val="000000"/>
                </a:solidFill>
                <a:latin typeface="Calibri (MS)"/>
                <a:ea typeface="Calibri (MS)"/>
                <a:cs typeface="Calibri (MS)"/>
                <a:sym typeface="Calibri (MS)"/>
              </a:endParaRPr>
            </a:p>
            <a:p>
              <a:pPr marL="673110" lvl="1" indent="-336555" algn="just">
                <a:lnSpc>
                  <a:spcPts val="4320"/>
                </a:lnSpc>
              </a:pPr>
              <a:endParaRPr lang="en-US" sz="3600" spc="-1">
                <a:solidFill>
                  <a:srgbClr val="000000"/>
                </a:solidFill>
                <a:latin typeface="Calibri (MS)"/>
                <a:ea typeface="Calibri (MS)"/>
                <a:cs typeface="Calibri (MS)"/>
                <a:sym typeface="Calibri (MS)"/>
              </a:endParaRPr>
            </a:p>
          </p:txBody>
        </p:sp>
      </p:grpSp>
    </p:spTree>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860670" y="952500"/>
            <a:ext cx="17214120" cy="8177280"/>
            <a:chOff x="284280" y="-552320"/>
            <a:chExt cx="22952160" cy="10903040"/>
          </a:xfrm>
        </p:grpSpPr>
        <p:sp>
          <p:nvSpPr>
            <p:cNvPr id="4" name="Freeform 4"/>
            <p:cNvSpPr/>
            <p:nvPr/>
          </p:nvSpPr>
          <p:spPr>
            <a:xfrm>
              <a:off x="284280" y="-279360"/>
              <a:ext cx="22952160" cy="10630080"/>
            </a:xfrm>
            <a:custGeom>
              <a:avLst/>
              <a:gdLst/>
              <a:ahLst/>
              <a:cxnLst/>
              <a:rect l="l" t="t" r="r" b="b"/>
              <a:pathLst>
                <a:path w="22952160" h="10630080">
                  <a:moveTo>
                    <a:pt x="0" y="0"/>
                  </a:moveTo>
                  <a:lnTo>
                    <a:pt x="22952160" y="0"/>
                  </a:lnTo>
                  <a:lnTo>
                    <a:pt x="22952160" y="10630080"/>
                  </a:lnTo>
                  <a:lnTo>
                    <a:pt x="0" y="10630080"/>
                  </a:lnTo>
                  <a:close/>
                </a:path>
              </a:pathLst>
            </a:custGeom>
            <a:solidFill>
              <a:srgbClr val="000000">
                <a:alpha val="0"/>
              </a:srgbClr>
            </a:solidFill>
          </p:spPr>
        </p:sp>
        <p:sp>
          <p:nvSpPr>
            <p:cNvPr id="5" name="TextBox 5"/>
            <p:cNvSpPr txBox="1"/>
            <p:nvPr/>
          </p:nvSpPr>
          <p:spPr>
            <a:xfrm>
              <a:off x="1270320" y="-552320"/>
              <a:ext cx="21580240" cy="10715805"/>
            </a:xfrm>
            <a:prstGeom prst="rect">
              <a:avLst/>
            </a:prstGeom>
          </p:spPr>
          <p:txBody>
            <a:bodyPr lIns="0" tIns="0" rIns="0" bIns="0" rtlCol="0" anchor="t"/>
            <a:lstStyle/>
            <a:p>
              <a:pPr algn="just">
                <a:lnSpc>
                  <a:spcPts val="5040"/>
                </a:lnSpc>
              </a:pPr>
              <a:r>
                <a:rPr lang="en-US" sz="4200" b="1" spc="-1" dirty="0">
                  <a:solidFill>
                    <a:srgbClr val="000000"/>
                  </a:solidFill>
                  <a:latin typeface="Calibri (MS) Bold"/>
                  <a:ea typeface="Calibri (MS) Bold"/>
                  <a:cs typeface="Calibri (MS) Bold"/>
                  <a:sym typeface="Calibri (MS) Bold"/>
                </a:rPr>
                <a:t>Web Application Overview </a:t>
              </a:r>
            </a:p>
            <a:p>
              <a:pPr marL="675270" lvl="1" indent="-337635" algn="l">
                <a:lnSpc>
                  <a:spcPts val="4320"/>
                </a:lnSpc>
                <a:buFont typeface="Arial"/>
                <a:buChar char="•"/>
              </a:pPr>
              <a:r>
                <a:rPr lang="en-US" sz="3600" spc="-1" dirty="0">
                  <a:solidFill>
                    <a:srgbClr val="000000"/>
                  </a:solidFill>
                  <a:latin typeface="Calibri (MS)"/>
                  <a:ea typeface="Calibri (MS)"/>
                  <a:cs typeface="Calibri (MS)"/>
                  <a:sym typeface="Calibri (MS)"/>
                </a:rPr>
                <a:t>Built using Flask for backend.</a:t>
              </a:r>
            </a:p>
            <a:p>
              <a:pPr marL="675270" lvl="1" indent="-337635" algn="l">
                <a:lnSpc>
                  <a:spcPts val="4320"/>
                </a:lnSpc>
                <a:buFont typeface="Arial"/>
                <a:buChar char="•"/>
              </a:pPr>
              <a:r>
                <a:rPr lang="en-US" sz="3600" spc="-1" dirty="0">
                  <a:solidFill>
                    <a:srgbClr val="000000"/>
                  </a:solidFill>
                  <a:latin typeface="Calibri (MS)"/>
                  <a:ea typeface="Calibri (MS)"/>
                  <a:cs typeface="Calibri (MS)"/>
                  <a:sym typeface="Calibri (MS)"/>
                </a:rPr>
                <a:t>HTML, CSS, JS for frontend.</a:t>
              </a:r>
            </a:p>
            <a:p>
              <a:pPr marL="675270" lvl="1" indent="-337635" algn="l">
                <a:lnSpc>
                  <a:spcPts val="4320"/>
                </a:lnSpc>
                <a:buFont typeface="Arial"/>
                <a:buChar char="•"/>
              </a:pPr>
              <a:r>
                <a:rPr lang="en-US" sz="3600" spc="-1" dirty="0">
                  <a:solidFill>
                    <a:srgbClr val="000000"/>
                  </a:solidFill>
                  <a:latin typeface="Calibri (MS)"/>
                  <a:ea typeface="Calibri (MS)"/>
                  <a:cs typeface="Calibri (MS)"/>
                  <a:sym typeface="Calibri (MS)"/>
                </a:rPr>
                <a:t>Users upload images for real-time predictions.</a:t>
              </a:r>
            </a:p>
            <a:p>
              <a:pPr marL="675270" lvl="1" indent="-337635" algn="l">
                <a:lnSpc>
                  <a:spcPts val="4320"/>
                </a:lnSpc>
                <a:buFont typeface="Arial"/>
                <a:buChar char="•"/>
              </a:pPr>
              <a:r>
                <a:rPr lang="en-US" sz="3600" spc="-1" dirty="0">
                  <a:solidFill>
                    <a:srgbClr val="000000"/>
                  </a:solidFill>
                  <a:latin typeface="Calibri (MS)"/>
                  <a:ea typeface="Calibri (MS)"/>
                  <a:cs typeface="Calibri (MS)"/>
                  <a:sym typeface="Calibri (MS)"/>
                </a:rPr>
                <a:t>PIL used for image preprocessing.</a:t>
              </a:r>
            </a:p>
            <a:p>
              <a:pPr marL="675270" lvl="1" indent="-337635" algn="l">
                <a:lnSpc>
                  <a:spcPts val="4320"/>
                </a:lnSpc>
                <a:buFont typeface="Arial"/>
                <a:buChar char="•"/>
              </a:pPr>
              <a:r>
                <a:rPr lang="en-US" sz="3600" spc="-1" dirty="0">
                  <a:solidFill>
                    <a:srgbClr val="000000"/>
                  </a:solidFill>
                  <a:latin typeface="Calibri (MS)"/>
                  <a:ea typeface="Calibri (MS)"/>
                  <a:cs typeface="Calibri (MS)"/>
                  <a:sym typeface="Calibri (MS)"/>
                </a:rPr>
                <a:t>CORS enabled for seamless interactions.</a:t>
              </a:r>
            </a:p>
            <a:p>
              <a:pPr algn="just">
                <a:lnSpc>
                  <a:spcPts val="4320"/>
                </a:lnSpc>
              </a:pPr>
              <a:endParaRPr lang="en-US" sz="3600" spc="-1" dirty="0">
                <a:solidFill>
                  <a:srgbClr val="000000"/>
                </a:solidFill>
                <a:latin typeface="Calibri (MS)"/>
                <a:ea typeface="Calibri (MS)"/>
                <a:cs typeface="Calibri (MS)"/>
                <a:sym typeface="Calibri (MS)"/>
              </a:endParaRPr>
            </a:p>
            <a:p>
              <a:pPr algn="just">
                <a:lnSpc>
                  <a:spcPts val="4320"/>
                </a:lnSpc>
              </a:pPr>
              <a:endParaRPr lang="en-US" sz="3600" spc="-1" dirty="0">
                <a:solidFill>
                  <a:srgbClr val="000000"/>
                </a:solidFill>
                <a:latin typeface="Calibri (MS)"/>
                <a:ea typeface="Calibri (MS)"/>
                <a:cs typeface="Calibri (MS)"/>
                <a:sym typeface="Calibri (MS)"/>
              </a:endParaRPr>
            </a:p>
            <a:p>
              <a:pPr algn="just">
                <a:lnSpc>
                  <a:spcPts val="4320"/>
                </a:lnSpc>
              </a:pPr>
              <a:endParaRPr lang="en-US" sz="3600" spc="-1" dirty="0">
                <a:solidFill>
                  <a:srgbClr val="000000"/>
                </a:solidFill>
                <a:latin typeface="Calibri (MS)"/>
                <a:ea typeface="Calibri (MS)"/>
                <a:cs typeface="Calibri (MS)"/>
                <a:sym typeface="Calibri (MS)"/>
              </a:endParaRPr>
            </a:p>
          </p:txBody>
        </p:sp>
      </p:grpSp>
      <p:sp>
        <p:nvSpPr>
          <p:cNvPr id="6" name="Freeform 6"/>
          <p:cNvSpPr/>
          <p:nvPr/>
        </p:nvSpPr>
        <p:spPr>
          <a:xfrm>
            <a:off x="4267200" y="4424464"/>
            <a:ext cx="8508069" cy="5143500"/>
          </a:xfrm>
          <a:custGeom>
            <a:avLst/>
            <a:gdLst/>
            <a:ahLst/>
            <a:cxnLst/>
            <a:rect l="l" t="t" r="r" b="b"/>
            <a:pathLst>
              <a:path w="8508069" h="5143500">
                <a:moveTo>
                  <a:pt x="0" y="0"/>
                </a:moveTo>
                <a:lnTo>
                  <a:pt x="8508069" y="0"/>
                </a:lnTo>
                <a:lnTo>
                  <a:pt x="8508069" y="5143500"/>
                </a:lnTo>
                <a:lnTo>
                  <a:pt x="0" y="5143500"/>
                </a:lnTo>
                <a:lnTo>
                  <a:pt x="0" y="0"/>
                </a:lnTo>
                <a:close/>
              </a:path>
            </a:pathLst>
          </a:custGeom>
          <a:blipFill>
            <a:blip r:embed="rId3"/>
            <a:stretch>
              <a:fillRect l="-44132" t="-17718" r="-40276" b="-53865"/>
            </a:stretch>
          </a:blipFill>
        </p:spPr>
      </p:sp>
    </p:spTree>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647460" y="1366740"/>
            <a:ext cx="17214120" cy="7972560"/>
            <a:chOff x="0" y="0"/>
            <a:chExt cx="22952160" cy="10630080"/>
          </a:xfrm>
        </p:grpSpPr>
        <p:sp>
          <p:nvSpPr>
            <p:cNvPr id="4" name="Freeform 4"/>
            <p:cNvSpPr/>
            <p:nvPr/>
          </p:nvSpPr>
          <p:spPr>
            <a:xfrm>
              <a:off x="0" y="0"/>
              <a:ext cx="22952160" cy="10630080"/>
            </a:xfrm>
            <a:custGeom>
              <a:avLst/>
              <a:gdLst/>
              <a:ahLst/>
              <a:cxnLst/>
              <a:rect l="l" t="t" r="r" b="b"/>
              <a:pathLst>
                <a:path w="22952160" h="10630080">
                  <a:moveTo>
                    <a:pt x="0" y="0"/>
                  </a:moveTo>
                  <a:lnTo>
                    <a:pt x="22952160" y="0"/>
                  </a:lnTo>
                  <a:lnTo>
                    <a:pt x="22952160" y="10630080"/>
                  </a:lnTo>
                  <a:lnTo>
                    <a:pt x="0" y="10630080"/>
                  </a:lnTo>
                  <a:close/>
                </a:path>
              </a:pathLst>
            </a:custGeom>
            <a:solidFill>
              <a:srgbClr val="000000">
                <a:alpha val="0"/>
              </a:srgbClr>
            </a:solidFill>
          </p:spPr>
        </p:sp>
        <p:sp>
          <p:nvSpPr>
            <p:cNvPr id="5" name="TextBox 5"/>
            <p:cNvSpPr txBox="1"/>
            <p:nvPr/>
          </p:nvSpPr>
          <p:spPr>
            <a:xfrm>
              <a:off x="0" y="-85725"/>
              <a:ext cx="22952160" cy="10715805"/>
            </a:xfrm>
            <a:prstGeom prst="rect">
              <a:avLst/>
            </a:prstGeom>
          </p:spPr>
          <p:txBody>
            <a:bodyPr lIns="0" tIns="0" rIns="0" bIns="0" rtlCol="0" anchor="t"/>
            <a:lstStyle/>
            <a:p>
              <a:pPr algn="just">
                <a:lnSpc>
                  <a:spcPts val="5040"/>
                </a:lnSpc>
              </a:pPr>
              <a:endParaRPr/>
            </a:p>
          </p:txBody>
        </p:sp>
      </p:grpSp>
      <p:sp>
        <p:nvSpPr>
          <p:cNvPr id="6" name="Freeform 6"/>
          <p:cNvSpPr/>
          <p:nvPr/>
        </p:nvSpPr>
        <p:spPr>
          <a:xfrm>
            <a:off x="4724400" y="2466580"/>
            <a:ext cx="7239473" cy="5353840"/>
          </a:xfrm>
          <a:custGeom>
            <a:avLst/>
            <a:gdLst/>
            <a:ahLst/>
            <a:cxnLst/>
            <a:rect l="l" t="t" r="r" b="b"/>
            <a:pathLst>
              <a:path w="7239473" h="5353840">
                <a:moveTo>
                  <a:pt x="0" y="0"/>
                </a:moveTo>
                <a:lnTo>
                  <a:pt x="7239473" y="0"/>
                </a:lnTo>
                <a:lnTo>
                  <a:pt x="7239473" y="5353840"/>
                </a:lnTo>
                <a:lnTo>
                  <a:pt x="0" y="5353840"/>
                </a:lnTo>
                <a:lnTo>
                  <a:pt x="0" y="0"/>
                </a:lnTo>
                <a:close/>
              </a:path>
            </a:pathLst>
          </a:custGeom>
          <a:blipFill>
            <a:blip r:embed="rId3"/>
            <a:stretch>
              <a:fillRect l="-39294" t="-28280" r="-39710" b="-7873"/>
            </a:stretch>
          </a:blipFill>
        </p:spPr>
      </p:sp>
      <p:sp>
        <p:nvSpPr>
          <p:cNvPr id="7" name="TextBox 7"/>
          <p:cNvSpPr txBox="1"/>
          <p:nvPr/>
        </p:nvSpPr>
        <p:spPr>
          <a:xfrm>
            <a:off x="2429997" y="1281015"/>
            <a:ext cx="2911235" cy="723900"/>
          </a:xfrm>
          <a:prstGeom prst="rect">
            <a:avLst/>
          </a:prstGeom>
        </p:spPr>
        <p:txBody>
          <a:bodyPr lIns="0" tIns="0" rIns="0" bIns="0" rtlCol="0" anchor="t">
            <a:spAutoFit/>
          </a:bodyPr>
          <a:lstStyle/>
          <a:p>
            <a:pPr algn="ctr">
              <a:lnSpc>
                <a:spcPts val="5040"/>
              </a:lnSpc>
              <a:spcBef>
                <a:spcPct val="0"/>
              </a:spcBef>
            </a:pPr>
            <a:r>
              <a:rPr lang="en-US" sz="4200" b="1" spc="-1">
                <a:solidFill>
                  <a:srgbClr val="000000"/>
                </a:solidFill>
                <a:latin typeface="Calibri (MS) Bold"/>
                <a:ea typeface="Calibri (MS) Bold"/>
                <a:cs typeface="Calibri (MS) Bold"/>
                <a:sym typeface="Calibri (MS) Bold"/>
              </a:rPr>
              <a:t> Output:</a:t>
            </a:r>
          </a:p>
        </p:txBody>
      </p:sp>
    </p:spTree>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descr="0914 Thank You Note With Blue Pen On White Background Stock Photo |  PowerPoint Templates Download | PPT Background Template | Graphics  Presentation"/>
          <p:cNvSpPr/>
          <p:nvPr/>
        </p:nvSpPr>
        <p:spPr>
          <a:xfrm>
            <a:off x="3481380" y="704700"/>
            <a:ext cx="11136960" cy="8908380"/>
          </a:xfrm>
          <a:custGeom>
            <a:avLst/>
            <a:gdLst/>
            <a:ahLst/>
            <a:cxnLst/>
            <a:rect l="l" t="t" r="r" b="b"/>
            <a:pathLst>
              <a:path w="11136960" h="8908380">
                <a:moveTo>
                  <a:pt x="0" y="0"/>
                </a:moveTo>
                <a:lnTo>
                  <a:pt x="11136960" y="0"/>
                </a:lnTo>
                <a:lnTo>
                  <a:pt x="11136960" y="8908380"/>
                </a:lnTo>
                <a:lnTo>
                  <a:pt x="0" y="8908380"/>
                </a:lnTo>
                <a:lnTo>
                  <a:pt x="0" y="0"/>
                </a:lnTo>
                <a:close/>
              </a:path>
            </a:pathLst>
          </a:custGeom>
          <a:blipFill>
            <a:blip r:embed="rId3"/>
            <a:stretch>
              <a:fillRect t="-6" b="-6"/>
            </a:stretch>
          </a:blipFill>
        </p:spPr>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TotalTime>
  <Words>559</Words>
  <Application>Microsoft Office PowerPoint</Application>
  <PresentationFormat>Custom</PresentationFormat>
  <Paragraphs>77</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Calibri (MS)</vt:lpstr>
      <vt:lpstr>Bricolage Grotesque 28 Bold</vt:lpstr>
      <vt:lpstr>Calibri (MS) Bold</vt:lpstr>
      <vt:lpstr>Arimo</vt:lpstr>
      <vt:lpstr>Arial</vt:lpstr>
      <vt:lpstr>Arial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Group_5_PPT_Major.ppt</dc:title>
  <dc:creator>HemaDurga</dc:creator>
  <cp:lastModifiedBy>HemaDurga</cp:lastModifiedBy>
  <cp:revision>10</cp:revision>
  <dcterms:created xsi:type="dcterms:W3CDTF">2006-08-16T00:00:00Z</dcterms:created>
  <dcterms:modified xsi:type="dcterms:W3CDTF">2025-05-02T17:21:46Z</dcterms:modified>
  <dc:identifier>DAGlhcHXkWk</dc:identifier>
</cp:coreProperties>
</file>